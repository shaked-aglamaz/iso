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date on the title slide: replace with the real defense date. Open by naming the object of the talk: a rhythm inside N2 sleep, about one cycle every 50 seconds, and the question of what aging and amnestic MCI do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box, then move on. Do not read the boxes out. Flag that the aMCI null is a result, not a missing result: it is what makes the aging interpretation clean.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PSG and AASM scoring. Two spindle subtypes (Molle 2011): slow ~11 to 13 Hz frontal, fast ~13 to 16 Hz central-parietal. This talk is about the fast subtype, because that is where the infra-slow rhythm is most pronounced. N2 is also the largest stage of the night, in every group we recorded.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green box and the 'zoom-in' legend entry mark the 45 s window that the methods slide opens out, so they can be pointed at now and referred back to later. Boutin &amp; Doyon 2020 for the train structure; Lazar 2019 for the human spectral characterization. Note the two names explicitly, because an examiner reading around the topic will meet both. The rate depends on what is measured: sigma power puts it near 0.01 Hz, spindle events near 0.02 Hz (Lazar 2019, Lecci 2017).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 2017, Osorio-Forero 2021 and 2025, Kjaerby 2022 and 2026. Say clearly that the figure is our own cartoon of the published account, not our measurement. This slide sets up the mechanism section of the discussion, so keep it short here and promise to return to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analysis pipeline the thesis applies, taken from Dimitriades 2024 and adapted from their 128-channel montage to ours. Point at the curve while naming the three parameters: peak, width of the shaded band, area of the shaded band. Full detail comes in the methods section.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two bullets are the argument for the whole thesis: the region and the subtype that age affects are exactly where this rhythm lives, and the nucleus that paces it in rodents is the first to show pathology. So the ISFS is a principled place to look, not an arbitrary measure.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It is the reason the aMCI null is interpretable rather than disappointing, and it is the first thing an examiner will push on. The diagnosis separates the syndrome from its cause by design: the second step, judging whether it is due to Alzheimer's disease, is explicitly aetiological.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as they were stated: an age effect on the parameters and the topography, and, if the ISFS indexes early neurodegeneration, a further change in aMCI. Grollero et al. (2026) measured the same features in diagnosed Alzheimer's disease concurrently with this work: convergent, not the motivation. Return to it in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aMCI patients in Tel Aviv came through the Memory and Attention Disorders Center and were diagnosed clinically at the Cognitive Neurology Unit; patients already diagnosed with Alzheimer's disease were not included. Moderate or severe apnea was excluded, so every older participant has an AHI of 15 or below. MoCA was collected in Tel Aviv only, which is why the MoCA analysis has n = 44 rather than 69. Age: Welch t = -0.56, p = 0.57; MoCA: Mann-Whitney U = 375.5, p &lt; 0.001.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protocol at both sites, which is what makes pooling defensible. The excluded electrodes are the ones not over the scalp and most prone to muscle and movement artifact.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exclusions applied on top of the diagnostic criteria: more than 20 % of electrodes bad, more than 30 % of N2 artifactual, fewer than three clean bouts, or total sleep time under 210 min. The 210 min floor means each analyzed night holds more than two full NREM-REM cycles, so N2 is sampled across the night and not only from its first hours. Backup slide B3 has the exclusion counts.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around artifacts rather than rejecting whole N2 periods is what preserves usable data. The three-bout minimum is an inclusion criterion, and it excluded nine recordings across the three groups.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example participant and channel. The envelope comes from a Gabor-Morlet wavelet transform, 13 to 16 Hz in 0.2 Hz steps, 4 cycles wide, implemented as convolution in the frequency domain. Then, for each bout: subtract the mean of the envelope so its constant offset does not dominate the 0 Hz bin, Fourier transform, take the squared magnitude, put it on a frequency axis common to all bouts, and divide by its own mean power so channels and bouts of different signal strength are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baseline matters: broadband noise puts a channel-specific offset under the peak, which would inflate any peak measured on top of it, and the 0.06 to 0.10 Hz range contains no ISFS signal, so it estimates that offset cleanly. The acceptance rule is the reference pipeline's plus the positive-area gate, which rejects degenerate fits. Leaving failures missing rather than zero matters: a zero would be a measurement, a missing value is the absence of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ROI, or the central-parietal ROI, and nothing else: the internal variant labels are not for the audience. It is used for the AUC comparison and appears as green dots on the topography slides. Because it was fixed in advance, the ROI test is confirmatory while the cluster test is exploratory over the whole scalp.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Whole-scalp AUC failed the normality check, so that one parameter is tested non-parametrically. The order of normalization matters: normalizing inside the ROI would force its mean to 1 by construction, which is why it is done over all channels first. Cluster-forming threshold at the p = 0.05 F-critical value, one-tailed.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N3: ANOVA F = 10.85, p = 0.0001. REM: F = 36.70, p &lt; 0.0001. Both are driven by young versus each older group, with elderly and aMCI indistinguishable. N2 is 34.1 %, 44.5 % and 39.0 % of recording time. This is the normative aging pattern, which is the point: it is the baseline against which any aMCI effect has to show itself.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Hypnogram over the spectrogram of one electrode, one representative participant per group. Subject codes are cropped on purpose: two of the codes are misleading about group membership. Point out the fragmentation and the loss of deep sleep in the two older nights, then move on: the group statistics are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Percentages are of total recording time; mean ± SD. Sleep onset latency did not differ across groups (17.4, 15.6, 19.9 min; p = 0.38) and REM latency did (92.8, 125.4, 130.3 min; p = 0.005). Effect sizes: WASO eta squared 0.291, sleep efficiency 0.170. The full 14-row table with tests and post-hoc columns is backup slide B2.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this before showing any ISFS result: it is the first thing an examiner asks. Total analyzed N2 does not differ significantly (Kruskal-Wallis p = 0.081). Bandwidth is the one parameter that does track this, and it gets its own slide. Full ANCOVA output is backup slide B4.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group averages rest on: well-formed single-participant spectra, not an average that only looks clean once pooled. Each panel is one channel of one participant, with its own vertical scale, drawn with the same conventions as the methods figure. If asked what a failed fit means: no peak clearing the threshold inside the ISFS band, so no ISFS measurable at that channel, left missing rather than zero.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temporal result. The effect survives the N2-duration covariate (ANCOVA p = 0.0034, partial eta squared 0.108) with both pairwise contrasts surviving Holm correction. If asked how big it is: about a 15 % higher rate, or a cycle roughly 7 s shorter.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covariate is the stronger predictor: F = 14.73, p = 0.0002, partial eta squared 0.128, against group's 0.031. So this is not interpretable as an effect of age, and the thesis does not call it a trend. Say why being explicit here is a strength: the same covariate analysis is what makes the peak-frequency result credible, because there it changed nothing.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 setup for the topography slides. If the talk is running long, this slide and the next can be merged, but do not skip the point: the null at whole-scalp level is what makes the focal result interesting rather than just a global decline.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per-group maps; the number above each map is the mean of the per-participant means. Worth saying out loud: the young-adult topography reproduces Dimitriades 2024 and Lazar 2019 in an independent cohort, which is a validation of the whole pipeline before any group claim is made.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Electrodes E130, E143, E144, E153, E154, E155, E184, E185, E197 (mean F = 5.15, max F = 10.62). Post-hoc: young vs elderly significant at 5 of 9, young vs aMCI at 7 of 9, elderly vs aMCI at 1 (E197). These maps are per-participant normalized, so the result is about where a participant's strength is concentrated, not about the overall level, which did not differ. Headline spatial result. Backup slide B5 has the electrode lists.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this as support for the cluster result. The honest reading is that the a-priori ROI, taken from young adults, is larger than the region that actually changes with age. Values are per-participant normalized, so 1.10 means 10 % above that participant's own whole-scalp mean.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young adults peak frequency shows a frontal emphasis that flattens in the older groups, and bandwidth has no consistent spatial pattern at all. The interpretation to offer: peak frequency changes everywhere rather than anywhere in particular, which is what a change in the pacemaker rather than in a cortical generator would look like.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scalars were tested; two are shown, the other two behave the same way. Say the limitation before an examiner does: MoCA was collected in Tel Aviv only, so this analysis has n = 44 out of 69 older participants and is the least powered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summary in three sentences and resist elaborating: the next four slides do the elaborating. The framing of the whole thesis is in the title: aging, not amnestic MCI.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the careful reading, and it is the one to volunteer rather than defend: safer to read the effect as a change in where the rhythm is expressed than as evidence about the spindle generators themselves. The peak-frequency map blurs in the same direction without reaching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 2017, Osorio-Forero 2021 and 2025, Kjaerby 2022 and 2026; Braak 2011, Zarow 2003, Dahl 2019, Van Egroo 2022, Galgani 2023, Luthi 2025. The prediction our data does test: a mechanism anchored in a structure that degenerates early and in the general population, not only in patients, predicts a change complete in healthy older adults and no further advanced in aMCI. That is the pattern we found.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Grollero 2026 found reduced peak amplitude in clinically diagnosed Alzheimer's disease, a parameter we did not measure, in a group defined by diagnosis rather than by cognitive complaint. So our null says the rhythm does not track an aMCI diagnosis; it does not say the rhythm is preserved in early Alzheimer's disease. Two measures of the same nights behaving differently is informative about what each one indexes.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opposite directions, reduced in schizophrenia and in aging but elevated in chronic fatigue, cannot yet be read as a contradiction. If the rhythm indexes how deeply arousal is modulated across the night, deviation in either direction may be what matters, which is what an inverted-U on noradrenergic fluctuation amplitude would predict (Luthi 2025). Two of our three measures have essentially no comparison literature outside the approach they come from.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these rather than waiting to be asked. The Sydney recruitment and diagnostic route are not documented in the same detail as the Tel Aviv one, which is a real gap in the methods and is stated as such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If asked what the single most informative next experiment would be: repeated overnight recordings years apart in the same older and aMCI participants, because only a within-subject design separates aging trajectories from cross-sectional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on the two sentences and stop. Then the acknowledgements slide, then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channels 6.3 %, 1.4 %, 3.4 %; bad N2 epochs 4.1 %, 3.3 %, 1.8 %. The header of this rendering still says MCI rather than aMCI; the thesis table is a native table that reads aMCI.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Dashes mark comparisons that were not run because the omnibus test was not significant. Bold marks p &lt; 0.05.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criteria are stated in the methods: more than 20 % of electrodes bad, more than 30 % of N2 artifactual, fewer than three clean bouts, or total sleep time under 210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 failed the per-group normality check in the main analysis, so Kruskal-Wallis remains its primary test and the ANCOVA row is a covariate-adjusted supplement. Source: three_group_ancova_statistics.txt.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candidate clusters were formed, one survived. The direction is lower AUC in both older groups than in young adults. Across re-runs on slightly different cohorts the cluster stays central-parietal and keeps its direction; the electrode count moves by one or two.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longer recording gives more bouts and a more finely resolved spectrum, which plausibly broadens the fitted peak. Whatever the mechanism, duration is the stronger predictor and it is not balanced across groups.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differs from the reference implementation: the positive-area gate on the fit, which rejects degenerate solutions, and the montage adaptation from 128 to 256 channels. If asked about the absolute-value on c: the fit can return a negative width parameter, which is the same Gaussian, so its magnitude is what enters the bandwidth.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Young adults have the lowest detection rate and the strongest hotspot, which rules out a story in which the group differences are driven by how often the fit succeeds. If pressed on why young adults fit less often: they also contributed the least analyzed N2 sleep.</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Outputs are kept under results/no_naMCI. The reason for rejecting the sensitivity run was that it traded a defensible full sample for a smaller one without changing the conclusion, and the exclusion criteria were already fixed. Do not quote its p values as results.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Concurrent work, not the motivation for this thesis. The two studies agree on frequency, which distinguished neither clinical contrast, and are broadly consistent on a weakening of the rhythm over central regions. They diverge on whether cognitive impairment leaves a mark beyond age, and the two strength measures are not the same quantity, so the divergence is not a direct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any question about how sleep-architecture percentages were computed and why they do not match a naive count of scored epochs. The full note is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85800"/>
            <a:ext cx="10515600" cy="2011680"/>
          </a:xfrm>
          <a:prstGeom prst="rect">
            <a:avLst/>
          </a:prstGeom>
          <a:noFill/>
        </p:spPr>
        <p:txBody>
          <a:bodyPr wrap="square" anchor="ctr">
            <a:spAutoFit/>
          </a:bodyPr>
          <a:lstStyle/>
          <a:p>
            <a:pPr algn="l">
              <a:lnSpc>
                <a:spcPct val="108000"/>
              </a:lnSpc>
              <a:spcAft>
                <a:spcPts val="0"/>
              </a:spcAft>
            </a:pPr>
            <a:r>
              <a:rPr sz="3000" b="1" i="0">
                <a:solidFill>
                  <a:srgbClr val="FFFFFF"/>
                </a:solidFill>
                <a:latin typeface="Segoe UI"/>
              </a:rPr>
              <a:t>Aging, but not amnestic mild cognitive impairment, reshapes the infra-slow rhythm of sleep spindle power</a:t>
            </a:r>
          </a:p>
        </p:txBody>
      </p:sp>
      <p:sp>
        <p:nvSpPr>
          <p:cNvPr id="4" name="TextBox 3"/>
          <p:cNvSpPr txBox="1"/>
          <p:nvPr/>
        </p:nvSpPr>
        <p:spPr>
          <a:xfrm>
            <a:off x="822960" y="2487168"/>
            <a:ext cx="10515600" cy="548640"/>
          </a:xfrm>
          <a:prstGeom prst="rect">
            <a:avLst/>
          </a:prstGeom>
          <a:noFill/>
        </p:spPr>
        <p:txBody>
          <a:bodyPr wrap="square" anchor="t">
            <a:spAutoFit/>
          </a:bodyPr>
          <a:lstStyle/>
          <a:p>
            <a:pPr algn="r" rtl="1">
              <a:lnSpc>
                <a:spcPct val="105000"/>
              </a:lnSpc>
              <a:spcAft>
                <a:spcPts val="0"/>
              </a:spcAft>
            </a:pPr>
            <a:r>
              <a:rPr sz="1500" b="0" i="0">
                <a:solidFill>
                  <a:srgbClr val="C9D5E4"/>
                </a:solidFill>
                <a:latin typeface="Segoe UI"/>
              </a:rPr>
              <a:t>הזדקנות, אך לא ליקוי קוגניטיבי קל אמנסטי (aMCI), מעצבת מחדש את המקצב האינפרה-איטי של עוצמת כישורי השינה</a:t>
            </a:r>
          </a:p>
        </p:txBody>
      </p:sp>
      <p:sp>
        <p:nvSpPr>
          <p:cNvPr id="5" name="TextBox 4"/>
          <p:cNvSpPr txBox="1"/>
          <p:nvPr/>
        </p:nvSpPr>
        <p:spPr>
          <a:xfrm>
            <a:off x="822960" y="3749039"/>
            <a:ext cx="10515600" cy="2194560"/>
          </a:xfrm>
          <a:prstGeom prst="rect">
            <a:avLst/>
          </a:prstGeom>
          <a:noFill/>
        </p:spPr>
        <p:txBody>
          <a:bodyPr wrap="square" anchor="t">
            <a:spAutoFit/>
          </a:bodyPr>
          <a:lstStyle/>
          <a:p>
            <a:pPr algn="l">
              <a:lnSpc>
                <a:spcPct val="105000"/>
              </a:lnSpc>
              <a:spcAft>
                <a:spcPts val="1000"/>
              </a:spcAft>
            </a:pPr>
            <a:r>
              <a:rPr sz="1900" b="0" i="0">
                <a:solidFill>
                  <a:srgbClr val="1A1A1A"/>
                </a:solidFill>
                <a:latin typeface="Segoe UI"/>
              </a:rPr>
              <a:t>Shaked Aglamaz</a:t>
            </a:r>
          </a:p>
          <a:p>
            <a:pPr algn="l">
              <a:lnSpc>
                <a:spcPct val="105000"/>
              </a:lnSpc>
              <a:spcAft>
                <a:spcPts val="1000"/>
              </a:spcAft>
            </a:pPr>
            <a:r>
              <a:rPr sz="1900" b="0" i="0">
                <a:solidFill>
                  <a:srgbClr val="1A1A1A"/>
                </a:solidFill>
                <a:latin typeface="Segoe UI"/>
              </a:rPr>
              <a:t>Supervised by Prof. Yuval Nir</a:t>
            </a:r>
          </a:p>
          <a:p>
            <a:pPr algn="l">
              <a:lnSpc>
                <a:spcPct val="105000"/>
              </a:lnSpc>
              <a:spcAft>
                <a:spcPts val="1000"/>
              </a:spcAft>
            </a:pPr>
            <a:r>
              <a:rPr sz="1900" b="0" i="0">
                <a:solidFill>
                  <a:srgbClr val="1A1A1A"/>
                </a:solidFill>
                <a:latin typeface="Segoe UI"/>
              </a:rPr>
              <a:t>Sagol School of Neuroscience, Tel Aviv University</a:t>
            </a:r>
          </a:p>
          <a:p>
            <a:pPr algn="l">
              <a:lnSpc>
                <a:spcPct val="105000"/>
              </a:lnSpc>
              <a:spcAft>
                <a:spcPts val="1000"/>
              </a:spcAft>
            </a:pPr>
            <a:r>
              <a:rPr sz="1900" b="0" i="0">
                <a:solidFill>
                  <a:srgbClr val="1A1A1A"/>
                </a:solidFill>
                <a:latin typeface="Segoe UI"/>
              </a:rPr>
              <a:t>M.Sc. thesis defense  ·  [defense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What this talk covers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9552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The rhythm</a:t>
            </a:r>
          </a:p>
          <a:p>
            <a:pPr algn="l">
              <a:lnSpc>
                <a:spcPct val="105000"/>
              </a:lnSpc>
              <a:spcAft>
                <a:spcPts val="0"/>
              </a:spcAft>
            </a:pPr>
            <a:r>
              <a:rPr sz="1600" b="0" i="0">
                <a:solidFill>
                  <a:srgbClr val="1A1A1A"/>
                </a:solidFill>
                <a:latin typeface="Segoe UI"/>
              </a:rPr>
              <a:t>Spindles come in trains about every 50 s: an infra-slow fluctuation of sigma power (ISFS)</a:t>
            </a:r>
          </a:p>
        </p:txBody>
      </p:sp>
      <p:sp>
        <p:nvSpPr>
          <p:cNvPr id="6" name="Rounded Rectangle 5"/>
          <p:cNvSpPr/>
          <p:nvPr/>
        </p:nvSpPr>
        <p:spPr>
          <a:xfrm>
            <a:off x="341299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4159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What we measured</a:t>
            </a:r>
          </a:p>
          <a:p>
            <a:pPr algn="l">
              <a:lnSpc>
                <a:spcPct val="105000"/>
              </a:lnSpc>
              <a:spcAft>
                <a:spcPts val="0"/>
              </a:spcAft>
            </a:pPr>
            <a:r>
              <a:rPr sz="1600" b="0" i="0">
                <a:solidFill>
                  <a:srgbClr val="1A1A1A"/>
                </a:solidFill>
                <a:latin typeface="Segoe UI"/>
              </a:rPr>
              <a:t>256-channel EEG, full nights, 104 participants: peak frequency, bandwidth, strength (AUC)</a:t>
            </a:r>
          </a:p>
        </p:txBody>
      </p:sp>
      <p:sp>
        <p:nvSpPr>
          <p:cNvPr id="8" name="Rounded Rectangle 7"/>
          <p:cNvSpPr/>
          <p:nvPr/>
        </p:nvSpPr>
        <p:spPr>
          <a:xfrm>
            <a:off x="625906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766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What changed with age</a:t>
            </a:r>
          </a:p>
          <a:p>
            <a:pPr algn="l">
              <a:lnSpc>
                <a:spcPct val="105000"/>
              </a:lnSpc>
              <a:spcAft>
                <a:spcPts val="0"/>
              </a:spcAft>
            </a:pPr>
            <a:r>
              <a:rPr sz="1600" b="0" i="0">
                <a:solidFill>
                  <a:srgbClr val="1A1A1A"/>
                </a:solidFill>
                <a:latin typeface="Segoe UI"/>
              </a:rPr>
              <a:t>Faster rhythm, and the central-parietal hotspot of strength loses its focus</a:t>
            </a:r>
          </a:p>
        </p:txBody>
      </p:sp>
      <p:sp>
        <p:nvSpPr>
          <p:cNvPr id="10" name="Rounded Rectangle 9"/>
          <p:cNvSpPr/>
          <p:nvPr/>
        </p:nvSpPr>
        <p:spPr>
          <a:xfrm>
            <a:off x="910513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3373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2F7FAE"/>
                </a:solidFill>
                <a:latin typeface="Segoe UI"/>
              </a:rPr>
              <a:t>What aMCI added</a:t>
            </a:r>
          </a:p>
          <a:p>
            <a:pPr algn="l">
              <a:lnSpc>
                <a:spcPct val="105000"/>
              </a:lnSpc>
              <a:spcAft>
                <a:spcPts val="0"/>
              </a:spcAft>
            </a:pPr>
            <a:r>
              <a:rPr sz="1600" b="0" i="0">
                <a:solidFill>
                  <a:srgbClr val="1A1A1A"/>
                </a:solidFill>
                <a:latin typeface="Segoe UI"/>
              </a:rPr>
              <a:t>Nothing detectable beyond age, and nothing that tracks cognitive score</a:t>
            </a:r>
          </a:p>
        </p:txBody>
      </p:sp>
      <p:sp>
        <p:nvSpPr>
          <p:cNvPr id="12" name="TextBox 11"/>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3" name="TextBox 12"/>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Background</a:t>
            </a:r>
          </a:p>
          <a:p>
            <a:pPr algn="l">
              <a:lnSpc>
                <a:spcPct val="105000"/>
              </a:lnSpc>
              <a:spcAft>
                <a:spcPts val="0"/>
              </a:spcAft>
            </a:pPr>
            <a:r>
              <a:rPr sz="1900" b="0" i="0">
                <a:solidFill>
                  <a:srgbClr val="C9D5E4"/>
                </a:solidFill>
                <a:latin typeface="Segoe UI"/>
              </a:rPr>
              <a:t>N2 sleep, spindles, and the infra-slow rhythm that organizes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N2 sleep is defined by its spindles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0" y="1371600"/>
            <a:ext cx="512064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Sleep is scored in 30 s epochs from EEG, EOG and EMG</a:t>
            </a:r>
          </a:p>
          <a:p>
            <a:pPr algn="l" marL="274320" indent="-274320">
              <a:lnSpc>
                <a:spcPct val="102000"/>
              </a:lnSpc>
              <a:spcAft>
                <a:spcPts val="1300"/>
              </a:spcAft>
              <a:buFont typeface="Arial"/>
              <a:buChar char="▪"/>
            </a:pPr>
            <a:r>
              <a:rPr sz="1800" b="0" i="0">
                <a:solidFill>
                  <a:srgbClr val="1A1A1A"/>
                </a:solidFill>
                <a:latin typeface="Segoe UI"/>
              </a:rPr>
              <a:t>N2 is scored by the presence of sleep spindles, so a question about spindles is a question about N2</a:t>
            </a:r>
          </a:p>
          <a:p>
            <a:pPr algn="l" marL="274320" indent="-274320">
              <a:lnSpc>
                <a:spcPct val="102000"/>
              </a:lnSpc>
              <a:spcAft>
                <a:spcPts val="1300"/>
              </a:spcAft>
              <a:buFont typeface="Arial"/>
              <a:buChar char="▪"/>
            </a:pPr>
            <a:r>
              <a:rPr sz="1800" b="0" i="0">
                <a:solidFill>
                  <a:srgbClr val="1A1A1A"/>
                </a:solidFill>
                <a:latin typeface="Segoe UI"/>
              </a:rPr>
              <a:t>Spindles: brief 13 to 16 Hz bursts from thalamic reticular and thalamocortical circuits</a:t>
            </a:r>
          </a:p>
          <a:p>
            <a:pPr algn="l" marL="274320" indent="-274320">
              <a:lnSpc>
                <a:spcPct val="102000"/>
              </a:lnSpc>
              <a:spcAft>
                <a:spcPts val="1300"/>
              </a:spcAft>
              <a:buFont typeface="Arial"/>
              <a:buChar char="▪"/>
            </a:pPr>
            <a:r>
              <a:rPr sz="1800" b="0" i="0">
                <a:solidFill>
                  <a:srgbClr val="1A1A1A"/>
                </a:solidFill>
                <a:latin typeface="Segoe UI"/>
              </a:rPr>
              <a:t>Fast spindles (13 to 16 Hz) are largest over central-parietal cortex; slow spindles are frontal</a:t>
            </a:r>
          </a:p>
          <a:p>
            <a:pPr algn="l" marL="274320" indent="-274320">
              <a:lnSpc>
                <a:spcPct val="102000"/>
              </a:lnSpc>
              <a:spcAft>
                <a:spcPts val="1300"/>
              </a:spcAft>
              <a:buFont typeface="Arial"/>
              <a:buChar char="▪"/>
            </a:pPr>
            <a:r>
              <a:rPr sz="1800" b="0" i="0">
                <a:solidFill>
                  <a:srgbClr val="1A1A1A"/>
                </a:solidFill>
                <a:latin typeface="Segoe UI"/>
              </a:rPr>
              <a:t>Tied to plasticity, overnight memory consolidation, and sensory disconnection</a:t>
            </a:r>
          </a:p>
        </p:txBody>
      </p:sp>
      <p:pic>
        <p:nvPicPr>
          <p:cNvPr id="5" name="Picture 4" descr="hypno_young.png"/>
          <p:cNvPicPr>
            <a:picLocks noChangeAspect="1"/>
          </p:cNvPicPr>
          <p:nvPr/>
        </p:nvPicPr>
        <p:blipFill>
          <a:blip r:embed="rId2"/>
          <a:stretch>
            <a:fillRect/>
          </a:stretch>
        </p:blipFill>
        <p:spPr>
          <a:xfrm>
            <a:off x="548640" y="2676700"/>
            <a:ext cx="5394960" cy="2098959"/>
          </a:xfrm>
          <a:prstGeom prst="rect">
            <a:avLst/>
          </a:prstGeom>
        </p:spPr>
      </p:pic>
      <p:sp>
        <p:nvSpPr>
          <p:cNvPr id="6" name="TextBox 5"/>
          <p:cNvSpPr txBox="1"/>
          <p:nvPr/>
        </p:nvSpPr>
        <p:spPr>
          <a:xfrm>
            <a:off x="548640" y="4830523"/>
            <a:ext cx="539496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One whole night: hypnogram over the spectrogram of a single electrode</a:t>
            </a:r>
          </a:p>
        </p:txBody>
      </p:sp>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Spindles are not evenly spaced: they come in trains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Each bar is one detected spindle in one channel. The trains recur roughly every 50 s: an infra-slow fluctuation of sigma power, about 0.02 Hz.</a:t>
            </a:r>
          </a:p>
        </p:txBody>
      </p:sp>
      <p:pic>
        <p:nvPicPr>
          <p:cNvPr id="5" name="Picture 4" descr="spindle_timeline.png"/>
          <p:cNvPicPr>
            <a:picLocks noChangeAspect="1"/>
          </p:cNvPicPr>
          <p:nvPr/>
        </p:nvPicPr>
        <p:blipFill>
          <a:blip r:embed="rId2"/>
          <a:stretch>
            <a:fillRect/>
          </a:stretch>
        </p:blipFill>
        <p:spPr>
          <a:xfrm>
            <a:off x="640080" y="2381986"/>
            <a:ext cx="10927080" cy="1234491"/>
          </a:xfrm>
          <a:prstGeom prst="rect">
            <a:avLst/>
          </a:prstGeom>
        </p:spPr>
      </p:pic>
      <p:sp>
        <p:nvSpPr>
          <p:cNvPr id="6" name="TextBox 5"/>
          <p:cNvSpPr txBox="1"/>
          <p:nvPr/>
        </p:nvSpPr>
        <p:spPr>
          <a:xfrm>
            <a:off x="777240" y="3890797"/>
            <a:ext cx="10698480" cy="2372842"/>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What fluctuates is the sigma envelope: the amplitude of 13 to 16 Hz activity over time</a:t>
            </a:r>
          </a:p>
          <a:p>
            <a:pPr algn="l" marL="274320" indent="-274320">
              <a:lnSpc>
                <a:spcPct val="102000"/>
              </a:lnSpc>
              <a:spcAft>
                <a:spcPts val="1300"/>
              </a:spcAft>
              <a:buFont typeface="Arial"/>
              <a:buChar char="▪"/>
            </a:pPr>
            <a:r>
              <a:rPr sz="1600" b="0" i="0">
                <a:solidFill>
                  <a:srgbClr val="1A1A1A"/>
                </a:solidFill>
                <a:latin typeface="Segoe UI"/>
              </a:rPr>
              <a:t>Reported in rodents and in humans, most prominently over centro-parieto-occipital sites</a:t>
            </a:r>
          </a:p>
          <a:p>
            <a:pPr algn="l" marL="274320" indent="-274320">
              <a:lnSpc>
                <a:spcPct val="102000"/>
              </a:lnSpc>
              <a:spcAft>
                <a:spcPts val="1300"/>
              </a:spcAft>
              <a:buFont typeface="Arial"/>
              <a:buChar char="▪"/>
            </a:pPr>
            <a:r>
              <a:rPr sz="1600" b="0" i="0">
                <a:solidFill>
                  <a:srgbClr val="1A1A1A"/>
                </a:solidFill>
                <a:latin typeface="Segoe UI"/>
              </a:rPr>
              <a:t>Published under two names: infra-slow fluctuation of sigma power (ISFS) and infra-slow oscillation (ISO) of sigma or spindle power</a:t>
            </a:r>
          </a:p>
        </p:txBody>
      </p:sp>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rhythm splits NREM sleep into two substates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Schematic, not data. Offline: high sigma, spindle trains, sensory gating. Fragile: low sigma, micro-arousals.</a:t>
            </a:r>
          </a:p>
        </p:txBody>
      </p:sp>
      <p:pic>
        <p:nvPicPr>
          <p:cNvPr id="5" name="Picture 4" descr="lc_ne_schematic.png"/>
          <p:cNvPicPr>
            <a:picLocks noChangeAspect="1"/>
          </p:cNvPicPr>
          <p:nvPr/>
        </p:nvPicPr>
        <p:blipFill>
          <a:blip r:embed="rId2"/>
          <a:stretch>
            <a:fillRect/>
          </a:stretch>
        </p:blipFill>
        <p:spPr>
          <a:xfrm>
            <a:off x="2796539" y="1874519"/>
            <a:ext cx="6614160" cy="3200400"/>
          </a:xfrm>
          <a:prstGeom prst="rect">
            <a:avLst/>
          </a:prstGeom>
        </p:spPr>
      </p:pic>
      <p:sp>
        <p:nvSpPr>
          <p:cNvPr id="6" name="TextBox 5"/>
          <p:cNvSpPr txBox="1"/>
          <p:nvPr/>
        </p:nvSpPr>
        <p:spPr>
          <a:xfrm>
            <a:off x="777240" y="5349240"/>
            <a:ext cx="10698480" cy="914400"/>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In rodents the locus coeruleus (LC) sets the phase of this cycle: noradrenaline runs in anti-phase with sigma power</a:t>
            </a:r>
          </a:p>
          <a:p>
            <a:pPr algn="l" marL="274320" indent="-274320">
              <a:lnSpc>
                <a:spcPct val="102000"/>
              </a:lnSpc>
              <a:spcAft>
                <a:spcPts val="1300"/>
              </a:spcAft>
              <a:buFont typeface="Arial"/>
              <a:buChar char="▪"/>
            </a:pPr>
            <a:r>
              <a:rPr sz="1600" b="0" i="0">
                <a:solidFill>
                  <a:srgbClr val="1A1A1A"/>
                </a:solidFill>
                <a:latin typeface="Segoe UI"/>
              </a:rPr>
              <a:t>Thalamic noradrenaline suppresses spindle generation, so LC peaks mark micro-arousals and LC troughs mark spindle trains</a:t>
            </a:r>
          </a:p>
          <a:p>
            <a:pPr algn="l" marL="274320" indent="-274320">
              <a:lnSpc>
                <a:spcPct val="102000"/>
              </a:lnSpc>
              <a:spcAft>
                <a:spcPts val="1300"/>
              </a:spcAft>
              <a:buFont typeface="Arial"/>
              <a:buChar char="▪"/>
            </a:pPr>
            <a:r>
              <a:rPr sz="1600" b="0" i="0">
                <a:solidFill>
                  <a:srgbClr val="1A1A1A"/>
                </a:solidFill>
                <a:latin typeface="Segoe UI"/>
              </a:rPr>
              <a:t>Acetylcholine, serotonin and dopamine oscillate on the same cycle; silencing the LC abolishes the noradrenergic oscillation</a:t>
            </a:r>
          </a:p>
        </p:txBody>
      </p:sp>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Quantifying the rhythm: three parameters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512064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Take the sigma envelope, Fourier transform it, and fit a Gaussian to the peak</a:t>
            </a:r>
          </a:p>
          <a:p>
            <a:pPr algn="l" marL="274320" indent="-274320">
              <a:lnSpc>
                <a:spcPct val="102000"/>
              </a:lnSpc>
              <a:spcAft>
                <a:spcPts val="1300"/>
              </a:spcAft>
              <a:buFont typeface="Arial"/>
              <a:buChar char="▪"/>
            </a:pPr>
            <a:r>
              <a:rPr sz="1800" b="0" i="0">
                <a:solidFill>
                  <a:srgbClr val="1A1A1A"/>
                </a:solidFill>
                <a:latin typeface="Segoe UI"/>
              </a:rPr>
              <a:t>Peak frequency: how fast the rhythm runs</a:t>
            </a:r>
          </a:p>
          <a:p>
            <a:pPr algn="l" marL="274320" indent="-274320">
              <a:lnSpc>
                <a:spcPct val="102000"/>
              </a:lnSpc>
              <a:spcAft>
                <a:spcPts val="1300"/>
              </a:spcAft>
              <a:buFont typeface="Arial"/>
              <a:buChar char="▪"/>
            </a:pPr>
            <a:r>
              <a:rPr sz="1800" b="0" i="0">
                <a:solidFill>
                  <a:srgbClr val="1A1A1A"/>
                </a:solidFill>
                <a:latin typeface="Segoe UI"/>
              </a:rPr>
              <a:t>Bandwidth: how sharply that rate is defined</a:t>
            </a:r>
          </a:p>
          <a:p>
            <a:pPr algn="l" marL="274320" indent="-274320">
              <a:lnSpc>
                <a:spcPct val="102000"/>
              </a:lnSpc>
              <a:spcAft>
                <a:spcPts val="1300"/>
              </a:spcAft>
              <a:buFont typeface="Arial"/>
              <a:buChar char="▪"/>
            </a:pPr>
            <a:r>
              <a:rPr sz="1800" b="0" i="0">
                <a:solidFill>
                  <a:srgbClr val="1A1A1A"/>
                </a:solidFill>
                <a:latin typeface="Segoe UI"/>
              </a:rPr>
              <a:t>Area under the curve (AUC): how strong the fluctuation is</a:t>
            </a:r>
          </a:p>
          <a:p>
            <a:pPr algn="l" marL="274320" indent="-274320">
              <a:lnSpc>
                <a:spcPct val="102000"/>
              </a:lnSpc>
              <a:spcAft>
                <a:spcPts val="1300"/>
              </a:spcAft>
              <a:buFont typeface="Arial"/>
              <a:buChar char="▪"/>
            </a:pPr>
            <a:r>
              <a:rPr sz="1800" b="0" i="0">
                <a:solidFill>
                  <a:srgbClr val="1A1A1A"/>
                </a:solidFill>
                <a:latin typeface="Segoe UI"/>
              </a:rPr>
              <a:t>Parameterization from Dimitriades et al. (2024), who followed the ISFS across development and linked these measures to arousal and memory reactivation</a:t>
            </a:r>
          </a:p>
        </p:txBody>
      </p:sp>
      <p:pic>
        <p:nvPicPr>
          <p:cNvPr id="5" name="Picture 4" descr="methods_panel_C.png"/>
          <p:cNvPicPr>
            <a:picLocks noChangeAspect="1"/>
          </p:cNvPicPr>
          <p:nvPr/>
        </p:nvPicPr>
        <p:blipFill>
          <a:blip r:embed="rId2"/>
          <a:stretch>
            <a:fillRect/>
          </a:stretch>
        </p:blipFill>
        <p:spPr>
          <a:xfrm>
            <a:off x="6355080" y="1781485"/>
            <a:ext cx="5394960" cy="3889389"/>
          </a:xfrm>
          <a:prstGeom prst="rect">
            <a:avLst/>
          </a:prstGeom>
        </p:spPr>
      </p:pic>
      <p:sp>
        <p:nvSpPr>
          <p:cNvPr id="6" name="TextBox 5"/>
          <p:cNvSpPr txBox="1"/>
          <p:nvPr/>
        </p:nvSpPr>
        <p:spPr>
          <a:xfrm>
            <a:off x="6355080" y="5725738"/>
            <a:ext cx="539496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One channel of one participant, averaged over its clean N2 bouts</a:t>
            </a:r>
          </a:p>
        </p:txBody>
      </p:sp>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Aging degrades the machinery this rhythm organizes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Sleep architecture: less N3 and REM sleep, more N1 and wake after sleep onset (Ohayon 2004)</a:t>
            </a:r>
          </a:p>
          <a:p>
            <a:pPr algn="l" marL="274320" indent="-274320">
              <a:lnSpc>
                <a:spcPct val="102000"/>
              </a:lnSpc>
              <a:spcAft>
                <a:spcPts val="1300"/>
              </a:spcAft>
              <a:buFont typeface="Arial"/>
              <a:buChar char="▪"/>
            </a:pPr>
            <a:r>
              <a:rPr sz="2000" b="0" i="0">
                <a:solidFill>
                  <a:srgbClr val="1A1A1A"/>
                </a:solidFill>
                <a:latin typeface="Segoe UI"/>
              </a:rPr>
              <a:t>Spindles: density falls, slow-wave to spindle coupling loosens, temporal clustering breaks down (Mander 2017; Helfrich 2018; Champetier 2023)</a:t>
            </a:r>
          </a:p>
          <a:p>
            <a:pPr algn="l" marL="274320" indent="-274320">
              <a:lnSpc>
                <a:spcPct val="102000"/>
              </a:lnSpc>
              <a:spcAft>
                <a:spcPts val="1300"/>
              </a:spcAft>
              <a:buFont typeface="Arial"/>
              <a:buChar char="▪"/>
            </a:pPr>
            <a:r>
              <a:rPr sz="2000" b="0" i="0">
                <a:solidFill>
                  <a:srgbClr val="1A1A1A"/>
                </a:solidFill>
                <a:latin typeface="Segoe UI"/>
              </a:rPr>
              <a:t>A parietal fast-spindle deficit is reported in aMCI and in Alzheimer's disease (Gorgoni 2016)</a:t>
            </a:r>
          </a:p>
          <a:p>
            <a:pPr algn="l" marL="274320" indent="-274320">
              <a:lnSpc>
                <a:spcPct val="102000"/>
              </a:lnSpc>
              <a:spcAft>
                <a:spcPts val="1300"/>
              </a:spcAft>
              <a:buFont typeface="Arial"/>
              <a:buChar char="▪"/>
            </a:pPr>
            <a:r>
              <a:rPr sz="2000" b="0" i="0">
                <a:solidFill>
                  <a:srgbClr val="1A1A1A"/>
                </a:solidFill>
                <a:latin typeface="Segoe UI"/>
              </a:rPr>
              <a:t>That deficit falls on the same spindle subtype and roughly the same region where the ISFS is strongest in young adults</a:t>
            </a:r>
          </a:p>
          <a:p>
            <a:pPr algn="l" marL="274320" indent="-274320">
              <a:lnSpc>
                <a:spcPct val="102000"/>
              </a:lnSpc>
              <a:spcAft>
                <a:spcPts val="1300"/>
              </a:spcAft>
              <a:buFont typeface="Arial"/>
              <a:buChar char="▪"/>
            </a:pPr>
            <a:r>
              <a:rPr sz="2000" b="0" i="0">
                <a:solidFill>
                  <a:srgbClr val="1A1A1A"/>
                </a:solidFill>
                <a:latin typeface="Segoe UI"/>
              </a:rPr>
              <a:t>The locus coeruleus is where the earliest abnormal tau appears, decades before symptoms (Braak 2011)</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Amnestic MCI, and what a null result there would mean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MCI: a cognitive complaint plus objective impairment, with daily function preserved (Petersen 1999; Albert 2011)</a:t>
            </a:r>
          </a:p>
          <a:p>
            <a:pPr algn="l" marL="274320" indent="-274320">
              <a:lnSpc>
                <a:spcPct val="102000"/>
              </a:lnSpc>
              <a:spcAft>
                <a:spcPts val="1300"/>
              </a:spcAft>
              <a:buFont typeface="Arial"/>
              <a:buChar char="▪"/>
            </a:pPr>
            <a:r>
              <a:rPr sz="2000" b="0" i="0">
                <a:solidFill>
                  <a:srgbClr val="1A1A1A"/>
                </a:solidFill>
                <a:latin typeface="Segoe UI"/>
              </a:rPr>
              <a:t>Amnestic MCI is the memory-impaired subtype, the one most associated with Alzheimer's disease</a:t>
            </a:r>
          </a:p>
          <a:p>
            <a:pPr algn="l" marL="274320" indent="-274320">
              <a:lnSpc>
                <a:spcPct val="102000"/>
              </a:lnSpc>
              <a:spcAft>
                <a:spcPts val="1300"/>
              </a:spcAft>
              <a:buFont typeface="Arial"/>
              <a:buChar char="▪"/>
            </a:pPr>
            <a:r>
              <a:rPr sz="2000" b="0" i="0">
                <a:solidFill>
                  <a:srgbClr val="1A1A1A"/>
                </a:solidFill>
                <a:latin typeface="Segoe UI"/>
              </a:rPr>
              <a:t>It is enriched for Alzheimer's pathology without being equivalent to it: most MCI never progresses (Mitchell 2009), about a quarter of aMCI reverts to normal cognition (Malek-Ahmadi 2016)</a:t>
            </a:r>
          </a:p>
          <a:p>
            <a:pPr algn="l" marL="274320" indent="-274320">
              <a:lnSpc>
                <a:spcPct val="102000"/>
              </a:lnSpc>
              <a:spcAft>
                <a:spcPts val="1300"/>
              </a:spcAft>
              <a:buFont typeface="Arial"/>
              <a:buChar char="▪"/>
            </a:pPr>
            <a:r>
              <a:rPr sz="2000" b="0" i="0">
                <a:solidFill>
                  <a:srgbClr val="1A1A1A"/>
                </a:solidFill>
                <a:latin typeface="Segoe UI"/>
              </a:rPr>
              <a:t>NREM sleep features have been proposed as early markers of incipient impairment (Taillard 2019; Liu 2020)</a:t>
            </a:r>
          </a:p>
          <a:p>
            <a:pPr algn="l" marL="274320" indent="-274320">
              <a:lnSpc>
                <a:spcPct val="102000"/>
              </a:lnSpc>
              <a:spcAft>
                <a:spcPts val="1300"/>
              </a:spcAft>
              <a:buFont typeface="Arial"/>
              <a:buChar char="▪"/>
            </a:pPr>
            <a:r>
              <a:rPr sz="2000" b="0" i="0">
                <a:solidFill>
                  <a:srgbClr val="1A1A1A"/>
                </a:solidFill>
                <a:latin typeface="Segoe UI"/>
              </a:rPr>
              <a:t>So a group defined by cognitive criteria is aetiologically mixed, and that shapes how a null result should be read</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gap, and what we asked</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The ISFS had been characterized in young adults, but not in older adults or in amnestic MCI.</a:t>
            </a:r>
          </a:p>
        </p:txBody>
      </p:sp>
      <p:sp>
        <p:nvSpPr>
          <p:cNvPr id="5" name="Rounded Rectangle 4"/>
          <p:cNvSpPr/>
          <p:nvPr/>
        </p:nvSpPr>
        <p:spPr>
          <a:xfrm>
            <a:off x="56692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Aim 1</a:t>
            </a:r>
          </a:p>
          <a:p>
            <a:pPr algn="l">
              <a:lnSpc>
                <a:spcPct val="105000"/>
              </a:lnSpc>
              <a:spcAft>
                <a:spcPts val="0"/>
              </a:spcAft>
            </a:pPr>
            <a:r>
              <a:rPr sz="1600" b="0" i="0">
                <a:solidFill>
                  <a:srgbClr val="1A1A1A"/>
                </a:solidFill>
                <a:latin typeface="Segoe UI"/>
              </a:rPr>
              <a:t>Does the ISFS change with healthy aging, in its parameters and in its scalp topography?</a:t>
            </a:r>
          </a:p>
        </p:txBody>
      </p:sp>
      <p:sp>
        <p:nvSpPr>
          <p:cNvPr id="7" name="Rounded Rectangle 6"/>
          <p:cNvSpPr/>
          <p:nvPr/>
        </p:nvSpPr>
        <p:spPr>
          <a:xfrm>
            <a:off x="436168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028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Aim 2</a:t>
            </a:r>
          </a:p>
          <a:p>
            <a:pPr algn="l">
              <a:lnSpc>
                <a:spcPct val="105000"/>
              </a:lnSpc>
              <a:spcAft>
                <a:spcPts val="0"/>
              </a:spcAft>
            </a:pPr>
            <a:r>
              <a:rPr sz="1600" b="0" i="0">
                <a:solidFill>
                  <a:srgbClr val="1A1A1A"/>
                </a:solidFill>
                <a:latin typeface="Segoe UI"/>
              </a:rPr>
              <a:t>Does amnestic MCI add anything detectable beyond age?</a:t>
            </a:r>
          </a:p>
        </p:txBody>
      </p:sp>
      <p:sp>
        <p:nvSpPr>
          <p:cNvPr id="9" name="Rounded Rectangle 8"/>
          <p:cNvSpPr/>
          <p:nvPr/>
        </p:nvSpPr>
        <p:spPr>
          <a:xfrm>
            <a:off x="815644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504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Approach</a:t>
            </a:r>
          </a:p>
          <a:p>
            <a:pPr algn="l">
              <a:lnSpc>
                <a:spcPct val="105000"/>
              </a:lnSpc>
              <a:spcAft>
                <a:spcPts val="0"/>
              </a:spcAft>
            </a:pPr>
            <a:r>
              <a:rPr sz="1600" b="0" i="0">
                <a:solidFill>
                  <a:srgbClr val="1A1A1A"/>
                </a:solidFill>
                <a:latin typeface="Segoe UI"/>
              </a:rPr>
              <a:t>256-channel EEG in three groups, compared across the whole scalp, channel by channel, and in an a-priori ROI</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Methods</a:t>
            </a:r>
          </a:p>
          <a:p>
            <a:pPr algn="l">
              <a:lnSpc>
                <a:spcPct val="105000"/>
              </a:lnSpc>
              <a:spcAft>
                <a:spcPts val="0"/>
              </a:spcAft>
            </a:pPr>
            <a:r>
              <a:rPr sz="1900" b="0" i="0">
                <a:solidFill>
                  <a:srgbClr val="C9D5E4"/>
                </a:solidFill>
                <a:latin typeface="Segoe UI"/>
              </a:rPr>
              <a:t>From a full night of 256-channel EEG to three numbers per 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Cohort: 104 participants, two sites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40" cy="2267712"/>
        </p:xfrm>
        <a:graphic>
          <a:graphicData uri="http://schemas.openxmlformats.org/drawingml/2006/table">
            <a:tbl>
              <a:tblPr firstRow="1" bandRow="1">
                <a:tableStyleId>{5C22544A-7EE6-4342-B048-85BDC9FD1C3A}</a:tableStyleId>
              </a:tblPr>
              <a:tblGrid>
                <a:gridCol w="2377440"/>
                <a:gridCol w="3017520"/>
                <a:gridCol w="2743200"/>
                <a:gridCol w="2926080"/>
              </a:tblGrid>
              <a:tr h="566928">
                <a:tc>
                  <a:txBody>
                    <a:bodyPr/>
                    <a:lstStyle/>
                    <a:p>
                      <a:pPr algn="l"/>
                      <a:r>
                        <a:rPr sz="2000" b="1">
                          <a:solidFill>
                            <a:srgbClr val="FFFFFF"/>
                          </a:solidFill>
                          <a:latin typeface="Segoe UI"/>
                        </a:rPr>
                        <a:t>Group</a:t>
                      </a:r>
                    </a:p>
                  </a:txBody>
                  <a:tcPr marL="91440" marR="73152" marT="27432" marB="27432" anchor="ctr">
                    <a:solidFill>
                      <a:srgbClr val="1F3A5F"/>
                    </a:solidFill>
                  </a:tcPr>
                </a:tc>
                <a:tc>
                  <a:txBody>
                    <a:bodyPr/>
                    <a:lstStyle/>
                    <a:p>
                      <a:pPr algn="ctr"/>
                      <a:r>
                        <a:rPr sz="2000" b="1">
                          <a:solidFill>
                            <a:srgbClr val="FFFFFF"/>
                          </a:solidFill>
                          <a:latin typeface="Segoe UI"/>
                        </a:rPr>
                        <a:t>n  (Tel Aviv / Sydney)</a:t>
                      </a:r>
                    </a:p>
                  </a:txBody>
                  <a:tcPr marL="91440" marR="73152" marT="27432" marB="27432" anchor="ctr">
                    <a:solidFill>
                      <a:srgbClr val="1F3A5F"/>
                    </a:solidFill>
                  </a:tcPr>
                </a:tc>
                <a:tc>
                  <a:txBody>
                    <a:bodyPr/>
                    <a:lstStyle/>
                    <a:p>
                      <a:pPr algn="ctr"/>
                      <a:r>
                        <a:rPr sz="2000" b="1">
                          <a:solidFill>
                            <a:srgbClr val="FFFFFF"/>
                          </a:solidFill>
                          <a:latin typeface="Segoe UI"/>
                        </a:rPr>
                        <a:t>Age (years)</a:t>
                      </a:r>
                    </a:p>
                  </a:txBody>
                  <a:tcPr marL="91440" marR="73152" marT="27432" marB="27432" anchor="ctr">
                    <a:solidFill>
                      <a:srgbClr val="1F3A5F"/>
                    </a:solidFill>
                  </a:tcPr>
                </a:tc>
                <a:tc>
                  <a:txBody>
                    <a:bodyPr/>
                    <a:lstStyle/>
                    <a:p>
                      <a:pPr algn="ctr"/>
                      <a:r>
                        <a:rPr sz="2000" b="1">
                          <a:solidFill>
                            <a:srgbClr val="FFFFFF"/>
                          </a:solidFill>
                          <a:latin typeface="Segoe UI"/>
                        </a:rPr>
                        <a:t>MoCA</a:t>
                      </a:r>
                    </a:p>
                  </a:txBody>
                  <a:tcPr marL="91440" marR="73152" marT="27432" marB="27432" anchor="ctr">
                    <a:solidFill>
                      <a:srgbClr val="1F3A5F"/>
                    </a:solidFill>
                  </a:tcPr>
                </a:tc>
              </a:tr>
              <a:tr h="566928">
                <a:tc>
                  <a:txBody>
                    <a:bodyPr/>
                    <a:lstStyle/>
                    <a:p>
                      <a:pPr algn="l"/>
                      <a:r>
                        <a:rPr sz="2000" b="0">
                          <a:solidFill>
                            <a:srgbClr val="1A1A1A"/>
                          </a:solidFill>
                          <a:latin typeface="Segoe UI"/>
                        </a:rPr>
                        <a:t>Young</a:t>
                      </a:r>
                    </a:p>
                  </a:txBody>
                  <a:tcPr marL="91440" marR="73152" marT="27432" marB="27432" anchor="ctr">
                    <a:solidFill>
                      <a:srgbClr val="FFFFFF"/>
                    </a:solidFill>
                  </a:tcPr>
                </a:tc>
                <a:tc>
                  <a:txBody>
                    <a:bodyPr/>
                    <a:lstStyle/>
                    <a:p>
                      <a:pPr algn="ctr"/>
                      <a:r>
                        <a:rPr sz="2000" b="0">
                          <a:solidFill>
                            <a:srgbClr val="1A1A1A"/>
                          </a:solidFill>
                          <a:latin typeface="Segoe UI"/>
                        </a:rPr>
                        <a:t>35  (35 / 0)</a:t>
                      </a:r>
                    </a:p>
                  </a:txBody>
                  <a:tcPr marL="91440" marR="73152" marT="27432" marB="27432" anchor="ctr">
                    <a:solidFill>
                      <a:srgbClr val="FFFFFF"/>
                    </a:solidFill>
                  </a:tcPr>
                </a:tc>
                <a:tc>
                  <a:txBody>
                    <a:bodyPr/>
                    <a:lstStyle/>
                    <a:p>
                      <a:pPr algn="ctr"/>
                      <a:r>
                        <a:rPr sz="2000" b="0">
                          <a:solidFill>
                            <a:srgbClr val="1A1A1A"/>
                          </a:solidFill>
                          <a:latin typeface="Segoe UI"/>
                        </a:rPr>
                        <a:t>27.1 ± 4.3</a:t>
                      </a:r>
                    </a:p>
                  </a:txBody>
                  <a:tcPr marL="91440" marR="73152" marT="27432" marB="27432" anchor="ctr">
                    <a:solidFill>
                      <a:srgbClr val="FFFFFF"/>
                    </a:solidFill>
                  </a:tcPr>
                </a:tc>
                <a:tc>
                  <a:txBody>
                    <a:bodyPr/>
                    <a:lstStyle/>
                    <a:p>
                      <a:pPr algn="ctr"/>
                      <a:r>
                        <a:rPr sz="2000" b="0">
                          <a:solidFill>
                            <a:srgbClr val="1A1A1A"/>
                          </a:solidFill>
                          <a:latin typeface="Segoe UI"/>
                        </a:rPr>
                        <a:t>not assessed</a:t>
                      </a:r>
                    </a:p>
                  </a:txBody>
                  <a:tcPr marL="91440" marR="73152" marT="27432" marB="27432" anchor="ctr">
                    <a:solidFill>
                      <a:srgbClr val="FFFFFF"/>
                    </a:solidFill>
                  </a:tcPr>
                </a:tc>
              </a:tr>
              <a:tr h="566928">
                <a:tc>
                  <a:txBody>
                    <a:bodyPr/>
                    <a:lstStyle/>
                    <a:p>
                      <a:pPr algn="l"/>
                      <a:r>
                        <a:rPr sz="2000" b="0">
                          <a:solidFill>
                            <a:srgbClr val="1A1A1A"/>
                          </a:solidFill>
                          <a:latin typeface="Segoe UI"/>
                        </a:rPr>
                        <a:t>Elderly</a:t>
                      </a:r>
                    </a:p>
                  </a:txBody>
                  <a:tcPr marL="91440" marR="73152" marT="27432" marB="27432" anchor="ctr">
                    <a:solidFill>
                      <a:srgbClr val="F2F5F8"/>
                    </a:solidFill>
                  </a:tcPr>
                </a:tc>
                <a:tc>
                  <a:txBody>
                    <a:bodyPr/>
                    <a:lstStyle/>
                    <a:p>
                      <a:pPr algn="ctr"/>
                      <a:r>
                        <a:rPr sz="2000" b="0">
                          <a:solidFill>
                            <a:srgbClr val="1A1A1A"/>
                          </a:solidFill>
                          <a:latin typeface="Segoe UI"/>
                        </a:rPr>
                        <a:t>39  (30 / 9)</a:t>
                      </a:r>
                    </a:p>
                  </a:txBody>
                  <a:tcPr marL="91440" marR="73152" marT="27432" marB="27432" anchor="ctr">
                    <a:solidFill>
                      <a:srgbClr val="F2F5F8"/>
                    </a:solidFill>
                  </a:tcPr>
                </a:tc>
                <a:tc>
                  <a:txBody>
                    <a:bodyPr/>
                    <a:lstStyle/>
                    <a:p>
                      <a:pPr algn="ctr"/>
                      <a:r>
                        <a:rPr sz="2000" b="0">
                          <a:solidFill>
                            <a:srgbClr val="1A1A1A"/>
                          </a:solidFill>
                          <a:latin typeface="Segoe UI"/>
                        </a:rPr>
                        <a:t>66.5 ± 9.7</a:t>
                      </a:r>
                    </a:p>
                  </a:txBody>
                  <a:tcPr marL="91440" marR="73152" marT="27432" marB="27432" anchor="ctr">
                    <a:solidFill>
                      <a:srgbClr val="F2F5F8"/>
                    </a:solidFill>
                  </a:tcPr>
                </a:tc>
                <a:tc>
                  <a:txBody>
                    <a:bodyPr/>
                    <a:lstStyle/>
                    <a:p>
                      <a:pPr algn="ctr"/>
                      <a:r>
                        <a:rPr sz="2000" b="0">
                          <a:solidFill>
                            <a:srgbClr val="1A1A1A"/>
                          </a:solidFill>
                          <a:latin typeface="Segoe UI"/>
                        </a:rPr>
                        <a:t>27.2 ± 2.6  (n = 30)</a:t>
                      </a:r>
                    </a:p>
                  </a:txBody>
                  <a:tcPr marL="91440" marR="73152" marT="27432" marB="27432" anchor="ctr">
                    <a:solidFill>
                      <a:srgbClr val="F2F5F8"/>
                    </a:solidFill>
                  </a:tcPr>
                </a:tc>
              </a:tr>
              <a:tr h="566928">
                <a:tc>
                  <a:txBody>
                    <a:bodyPr/>
                    <a:lstStyle/>
                    <a:p>
                      <a:pPr algn="l"/>
                      <a:r>
                        <a:rPr sz="2000" b="0">
                          <a:solidFill>
                            <a:srgbClr val="1A1A1A"/>
                          </a:solidFill>
                          <a:latin typeface="Segoe UI"/>
                        </a:rPr>
                        <a:t>aMCI</a:t>
                      </a:r>
                    </a:p>
                  </a:txBody>
                  <a:tcPr marL="91440" marR="73152" marT="27432" marB="27432" anchor="ctr">
                    <a:solidFill>
                      <a:srgbClr val="FFFFFF"/>
                    </a:solidFill>
                  </a:tcPr>
                </a:tc>
                <a:tc>
                  <a:txBody>
                    <a:bodyPr/>
                    <a:lstStyle/>
                    <a:p>
                      <a:pPr algn="ctr"/>
                      <a:r>
                        <a:rPr sz="2000" b="0">
                          <a:solidFill>
                            <a:srgbClr val="1A1A1A"/>
                          </a:solidFill>
                          <a:latin typeface="Segoe UI"/>
                        </a:rPr>
                        <a:t>30  (14 / 16)</a:t>
                      </a:r>
                    </a:p>
                  </a:txBody>
                  <a:tcPr marL="91440" marR="73152" marT="27432" marB="27432" anchor="ctr">
                    <a:solidFill>
                      <a:srgbClr val="FFFFFF"/>
                    </a:solidFill>
                  </a:tcPr>
                </a:tc>
                <a:tc>
                  <a:txBody>
                    <a:bodyPr/>
                    <a:lstStyle/>
                    <a:p>
                      <a:pPr algn="ctr"/>
                      <a:r>
                        <a:rPr sz="2000" b="0">
                          <a:solidFill>
                            <a:srgbClr val="1A1A1A"/>
                          </a:solidFill>
                          <a:latin typeface="Segoe UI"/>
                        </a:rPr>
                        <a:t>67.8 ± 9.1</a:t>
                      </a:r>
                    </a:p>
                  </a:txBody>
                  <a:tcPr marL="91440" marR="73152" marT="27432" marB="27432" anchor="ctr">
                    <a:solidFill>
                      <a:srgbClr val="FFFFFF"/>
                    </a:solidFill>
                  </a:tcPr>
                </a:tc>
                <a:tc>
                  <a:txBody>
                    <a:bodyPr/>
                    <a:lstStyle/>
                    <a:p>
                      <a:pPr algn="ctr"/>
                      <a:r>
                        <a:rPr sz="2000" b="0">
                          <a:solidFill>
                            <a:srgbClr val="1A1A1A"/>
                          </a:solidFill>
                          <a:latin typeface="Segoe UI"/>
                        </a:rPr>
                        <a:t>21.5 ± 4.3  (n = 14)</a:t>
                      </a:r>
                    </a:p>
                  </a:txBody>
                  <a:tcPr marL="91440" marR="73152" marT="27432" marB="27432" anchor="ctr">
                    <a:solidFill>
                      <a:srgbClr val="FFFFFF"/>
                    </a:solidFill>
                  </a:tcPr>
                </a:tc>
              </a:tr>
            </a:tbl>
          </a:graphicData>
        </a:graphic>
      </p:graphicFrame>
      <p:sp>
        <p:nvSpPr>
          <p:cNvPr id="5" name="TextBox 4"/>
          <p:cNvSpPr txBox="1"/>
          <p:nvPr/>
        </p:nvSpPr>
        <p:spPr>
          <a:xfrm>
            <a:off x="777240" y="3867912"/>
            <a:ext cx="10698480" cy="2441448"/>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Identical EEG setup and identical scoring at both sites: TASMC Tel Aviv, and the CIRUS Centre, Woolcock Institute, Sydney</a:t>
            </a:r>
          </a:p>
          <a:p>
            <a:pPr algn="l" marL="274320" indent="-274320">
              <a:lnSpc>
                <a:spcPct val="102000"/>
              </a:lnSpc>
              <a:spcAft>
                <a:spcPts val="1300"/>
              </a:spcAft>
              <a:buFont typeface="Arial"/>
              <a:buChar char="▪"/>
            </a:pPr>
            <a:r>
              <a:rPr sz="1600" b="0" i="0">
                <a:solidFill>
                  <a:srgbClr val="1A1A1A"/>
                </a:solidFill>
                <a:latin typeface="Segoe UI"/>
              </a:rPr>
              <a:t>The two older groups are matched in age (p = 0.57) and differ in MoCA as expected (p &lt; 0.001)</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Recording and scoring</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256-channel EGI system, Cz reference, digitized at 1000 Hz, impedances below 50 kOhm</a:t>
            </a:r>
          </a:p>
          <a:p>
            <a:pPr algn="l" marL="274320" indent="-274320">
              <a:lnSpc>
                <a:spcPct val="102000"/>
              </a:lnSpc>
              <a:spcAft>
                <a:spcPts val="1300"/>
              </a:spcAft>
              <a:buFont typeface="Arial"/>
              <a:buChar char="▪"/>
            </a:pPr>
            <a:r>
              <a:rPr sz="2000" b="0" i="0">
                <a:solidFill>
                  <a:srgbClr val="1A1A1A"/>
                </a:solidFill>
                <a:latin typeface="Segoe UI"/>
              </a:rPr>
              <a:t>Full-night PSG: EEG with EOG and submental EMG</a:t>
            </a:r>
          </a:p>
          <a:p>
            <a:pPr algn="l" marL="274320" indent="-274320">
              <a:lnSpc>
                <a:spcPct val="102000"/>
              </a:lnSpc>
              <a:spcAft>
                <a:spcPts val="1300"/>
              </a:spcAft>
              <a:buFont typeface="Arial"/>
              <a:buChar char="▪"/>
            </a:pPr>
            <a:r>
              <a:rPr sz="2000" b="0" i="0">
                <a:solidFill>
                  <a:srgbClr val="1A1A1A"/>
                </a:solidFill>
                <a:latin typeface="Segoe UI"/>
              </a:rPr>
              <a:t>Scored in 30 s epochs by AASM criteria (Visbrain within SleepEEGpy), on frontal, central and occipital derivations against contralateral mastoids</a:t>
            </a:r>
          </a:p>
          <a:p>
            <a:pPr algn="l" marL="274320" indent="-274320">
              <a:lnSpc>
                <a:spcPct val="102000"/>
              </a:lnSpc>
              <a:spcAft>
                <a:spcPts val="1300"/>
              </a:spcAft>
              <a:buFont typeface="Arial"/>
              <a:buChar char="▪"/>
            </a:pPr>
            <a:r>
              <a:rPr sz="2000" b="0" i="0">
                <a:solidFill>
                  <a:srgbClr val="1A1A1A"/>
                </a:solidFill>
                <a:latin typeface="Segoe UI"/>
              </a:rPr>
              <a:t>Verified against the Pz spectrogram with the hypnogram overlaid</a:t>
            </a:r>
          </a:p>
          <a:p>
            <a:pPr algn="l" marL="274320" indent="-274320">
              <a:lnSpc>
                <a:spcPct val="102000"/>
              </a:lnSpc>
              <a:spcAft>
                <a:spcPts val="1300"/>
              </a:spcAft>
              <a:buFont typeface="Arial"/>
              <a:buChar char="▪"/>
            </a:pPr>
            <a:r>
              <a:rPr sz="2000" b="0" i="0">
                <a:solidFill>
                  <a:srgbClr val="1A1A1A"/>
                </a:solidFill>
                <a:latin typeface="Segoe UI"/>
              </a:rPr>
              <a:t>Face, neck and ear electrodes dropped: 176 channels enter the analysis</a:t>
            </a:r>
          </a:p>
          <a:p>
            <a:pPr algn="l" marL="274320" indent="-274320">
              <a:lnSpc>
                <a:spcPct val="102000"/>
              </a:lnSpc>
              <a:spcAft>
                <a:spcPts val="1300"/>
              </a:spcAft>
              <a:buFont typeface="Arial"/>
              <a:buChar char="▪"/>
            </a:pPr>
            <a:r>
              <a:rPr sz="2000" b="0" i="0">
                <a:solidFill>
                  <a:srgbClr val="1A1A1A"/>
                </a:solidFill>
                <a:latin typeface="Segoe UI"/>
              </a:rPr>
              <a:t>The ISFS analysis is restricted to N2 sleep</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Preprocessing and artifact rejection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Resample</a:t>
            </a:r>
          </a:p>
          <a:p>
            <a:pPr algn="ctr">
              <a:lnSpc>
                <a:spcPct val="95000"/>
              </a:lnSpc>
              <a:spcAft>
                <a:spcPts val="0"/>
              </a:spcAft>
            </a:pPr>
            <a:r>
              <a:rPr sz="1300" b="1" i="0">
                <a:solidFill>
                  <a:srgbClr val="FFFFFF"/>
                </a:solidFill>
                <a:latin typeface="Segoe UI"/>
              </a:rPr>
              <a:t>250 Hz</a:t>
            </a:r>
          </a:p>
        </p:txBody>
      </p:sp>
      <p:sp>
        <p:nvSpPr>
          <p:cNvPr id="5" name="TextBox 4"/>
          <p:cNvSpPr txBox="1"/>
          <p:nvPr/>
        </p:nvSpPr>
        <p:spPr>
          <a:xfrm>
            <a:off x="2151887"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6" name="Rounded Rectangle 5"/>
          <p:cNvSpPr/>
          <p:nvPr/>
        </p:nvSpPr>
        <p:spPr>
          <a:xfrm>
            <a:off x="2462784"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Notch</a:t>
            </a:r>
          </a:p>
          <a:p>
            <a:pPr algn="ctr">
              <a:lnSpc>
                <a:spcPct val="95000"/>
              </a:lnSpc>
              <a:spcAft>
                <a:spcPts val="0"/>
              </a:spcAft>
            </a:pPr>
            <a:r>
              <a:rPr sz="1300" b="1" i="0">
                <a:solidFill>
                  <a:srgbClr val="FFFFFF"/>
                </a:solidFill>
                <a:latin typeface="Segoe UI"/>
              </a:rPr>
              <a:t>50, 100 Hz</a:t>
            </a:r>
          </a:p>
        </p:txBody>
      </p:sp>
      <p:sp>
        <p:nvSpPr>
          <p:cNvPr id="7" name="TextBox 6"/>
          <p:cNvSpPr txBox="1"/>
          <p:nvPr/>
        </p:nvSpPr>
        <p:spPr>
          <a:xfrm>
            <a:off x="4047744"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8" name="Rounded Rectangle 7"/>
          <p:cNvSpPr/>
          <p:nvPr/>
        </p:nvSpPr>
        <p:spPr>
          <a:xfrm>
            <a:off x="4358640"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Band-pass</a:t>
            </a:r>
          </a:p>
          <a:p>
            <a:pPr algn="ctr">
              <a:lnSpc>
                <a:spcPct val="95000"/>
              </a:lnSpc>
              <a:spcAft>
                <a:spcPts val="0"/>
              </a:spcAft>
            </a:pPr>
            <a:r>
              <a:rPr sz="1300" b="1" i="0">
                <a:solidFill>
                  <a:srgbClr val="FFFFFF"/>
                </a:solidFill>
                <a:latin typeface="Segoe UI"/>
              </a:rPr>
              <a:t>0.1 to 40 Hz</a:t>
            </a:r>
          </a:p>
        </p:txBody>
      </p:sp>
      <p:sp>
        <p:nvSpPr>
          <p:cNvPr id="9" name="TextBox 8"/>
          <p:cNvSpPr txBox="1"/>
          <p:nvPr/>
        </p:nvSpPr>
        <p:spPr>
          <a:xfrm>
            <a:off x="5943600"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0" name="Rounded Rectangle 9"/>
          <p:cNvSpPr/>
          <p:nvPr/>
        </p:nvSpPr>
        <p:spPr>
          <a:xfrm>
            <a:off x="6254496"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Reject bad</a:t>
            </a:r>
          </a:p>
          <a:p>
            <a:pPr algn="ctr">
              <a:lnSpc>
                <a:spcPct val="95000"/>
              </a:lnSpc>
              <a:spcAft>
                <a:spcPts val="0"/>
              </a:spcAft>
            </a:pPr>
            <a:r>
              <a:rPr sz="1300" b="1" i="0">
                <a:solidFill>
                  <a:srgbClr val="FFFFFF"/>
                </a:solidFill>
                <a:latin typeface="Segoe UI"/>
              </a:rPr>
              <a:t>channels, epochs</a:t>
            </a:r>
          </a:p>
        </p:txBody>
      </p:sp>
      <p:sp>
        <p:nvSpPr>
          <p:cNvPr id="11" name="TextBox 10"/>
          <p:cNvSpPr txBox="1"/>
          <p:nvPr/>
        </p:nvSpPr>
        <p:spPr>
          <a:xfrm>
            <a:off x="7839455"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2" name="Rounded Rectangle 11"/>
          <p:cNvSpPr/>
          <p:nvPr/>
        </p:nvSpPr>
        <p:spPr>
          <a:xfrm>
            <a:off x="8150351"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Average reference</a:t>
            </a:r>
          </a:p>
          <a:p>
            <a:pPr algn="ctr">
              <a:lnSpc>
                <a:spcPct val="95000"/>
              </a:lnSpc>
              <a:spcAft>
                <a:spcPts val="0"/>
              </a:spcAft>
            </a:pPr>
            <a:r>
              <a:rPr sz="1300" b="1" i="0">
                <a:solidFill>
                  <a:srgbClr val="FFFFFF"/>
                </a:solidFill>
                <a:latin typeface="Segoe UI"/>
              </a:rPr>
              <a:t>(good channels)</a:t>
            </a:r>
          </a:p>
        </p:txBody>
      </p:sp>
      <p:sp>
        <p:nvSpPr>
          <p:cNvPr id="13" name="TextBox 12"/>
          <p:cNvSpPr txBox="1"/>
          <p:nvPr/>
        </p:nvSpPr>
        <p:spPr>
          <a:xfrm>
            <a:off x="9735311"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4" name="Rounded Rectangle 13"/>
          <p:cNvSpPr/>
          <p:nvPr/>
        </p:nvSpPr>
        <p:spPr>
          <a:xfrm>
            <a:off x="10046208"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Interpolate</a:t>
            </a:r>
          </a:p>
          <a:p>
            <a:pPr algn="ctr">
              <a:lnSpc>
                <a:spcPct val="95000"/>
              </a:lnSpc>
              <a:spcAft>
                <a:spcPts val="0"/>
              </a:spcAft>
            </a:pPr>
            <a:r>
              <a:rPr sz="1300" b="1" i="0">
                <a:solidFill>
                  <a:srgbClr val="FFFFFF"/>
                </a:solidFill>
                <a:latin typeface="Segoe UI"/>
              </a:rPr>
              <a:t>bad channels</a:t>
            </a:r>
          </a:p>
        </p:txBody>
      </p:sp>
      <p:sp>
        <p:nvSpPr>
          <p:cNvPr id="15" name="TextBox 14"/>
          <p:cNvSpPr txBox="1"/>
          <p:nvPr/>
        </p:nvSpPr>
        <p:spPr>
          <a:xfrm>
            <a:off x="685800" y="2971800"/>
            <a:ext cx="10881360" cy="3383280"/>
          </a:xfrm>
          <a:prstGeom prst="rect">
            <a:avLst/>
          </a:prstGeom>
          <a:noFill/>
        </p:spPr>
        <p:txBody>
          <a:bodyPr wrap="square" anchor="t">
            <a:spAutoFit/>
          </a:bodyPr>
          <a:lstStyle/>
          <a:p>
            <a:pPr algn="l" marL="274320" indent="-274320">
              <a:lnSpc>
                <a:spcPct val="102000"/>
              </a:lnSpc>
              <a:spcAft>
                <a:spcPts val="1300"/>
              </a:spcAft>
              <a:buFont typeface="Arial"/>
              <a:buChar char="▪"/>
            </a:pPr>
            <a:r>
              <a:rPr sz="1900" b="0" i="0">
                <a:solidFill>
                  <a:srgbClr val="1A1A1A"/>
                </a:solidFill>
                <a:latin typeface="Segoe UI"/>
              </a:rPr>
              <a:t>Semi-automatic rejection, every recording inspected visually over its full duration</a:t>
            </a:r>
          </a:p>
          <a:p>
            <a:pPr algn="l" marL="274320" indent="-274320">
              <a:lnSpc>
                <a:spcPct val="102000"/>
              </a:lnSpc>
              <a:spcAft>
                <a:spcPts val="1300"/>
              </a:spcAft>
              <a:buFont typeface="Arial"/>
              <a:buChar char="▪"/>
            </a:pPr>
            <a:r>
              <a:rPr sz="1900" b="0" i="0">
                <a:solidFill>
                  <a:srgbClr val="1A1A1A"/>
                </a:solidFill>
                <a:latin typeface="Segoe UI"/>
              </a:rPr>
              <a:t>Bad channels: 6.3 %, 1.4 %, 3.4 % of channels (young, elderly, aMCI)</a:t>
            </a:r>
          </a:p>
          <a:p>
            <a:pPr algn="l" marL="274320" indent="-274320">
              <a:lnSpc>
                <a:spcPct val="102000"/>
              </a:lnSpc>
              <a:spcAft>
                <a:spcPts val="1300"/>
              </a:spcAft>
              <a:buFont typeface="Arial"/>
              <a:buChar char="▪"/>
            </a:pPr>
            <a:r>
              <a:rPr sz="1900" b="0" i="0">
                <a:solidFill>
                  <a:srgbClr val="1A1A1A"/>
                </a:solidFill>
                <a:latin typeface="Segoe UI"/>
              </a:rPr>
              <a:t>N2 time rejected as artifactual: 4.1 %, 3.3 %, 1.8 %</a:t>
            </a:r>
          </a:p>
          <a:p>
            <a:pPr algn="l" marL="274320" indent="-274320">
              <a:lnSpc>
                <a:spcPct val="102000"/>
              </a:lnSpc>
              <a:spcAft>
                <a:spcPts val="1300"/>
              </a:spcAft>
              <a:buFont typeface="Arial"/>
              <a:buChar char="▪"/>
            </a:pPr>
            <a:r>
              <a:rPr sz="1900" b="0" i="0">
                <a:solidFill>
                  <a:srgbClr val="1A1A1A"/>
                </a:solidFill>
                <a:latin typeface="Segoe UI"/>
              </a:rPr>
              <a:t>The reference is computed over good channels only, so a bad channel never enters it; interpolation comes afterwards</a:t>
            </a:r>
          </a:p>
        </p:txBody>
      </p:sp>
      <p:sp>
        <p:nvSpPr>
          <p:cNvPr id="16" name="TextBox 1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7" name="TextBox 1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Clean N2 bouts: the unit of analysis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Everything not scored as N2 is discarded</a:t>
            </a:r>
          </a:p>
          <a:p>
            <a:pPr algn="l" marL="274320" indent="-274320">
              <a:lnSpc>
                <a:spcPct val="102000"/>
              </a:lnSpc>
              <a:spcAft>
                <a:spcPts val="1300"/>
              </a:spcAft>
              <a:buFont typeface="Arial"/>
              <a:buChar char="▪"/>
            </a:pPr>
            <a:r>
              <a:rPr sz="2000" b="0" i="0">
                <a:solidFill>
                  <a:srgbClr val="1A1A1A"/>
                </a:solidFill>
                <a:latin typeface="Segoe UI"/>
              </a:rPr>
              <a:t>Each N2 period is split around every overlapping artifact annotation</a:t>
            </a:r>
          </a:p>
          <a:p>
            <a:pPr algn="l" marL="274320" indent="-274320">
              <a:lnSpc>
                <a:spcPct val="102000"/>
              </a:lnSpc>
              <a:spcAft>
                <a:spcPts val="1300"/>
              </a:spcAft>
              <a:buFont typeface="Arial"/>
              <a:buChar char="▪"/>
            </a:pPr>
            <a:r>
              <a:rPr sz="2000" b="0" i="0">
                <a:solidFill>
                  <a:srgbClr val="1A1A1A"/>
                </a:solidFill>
                <a:latin typeface="Segoe UI"/>
              </a:rPr>
              <a:t>Segments of at least 300 s are kept; each bout is analyzed independently</a:t>
            </a:r>
          </a:p>
          <a:p>
            <a:pPr algn="l" marL="274320" indent="-274320">
              <a:lnSpc>
                <a:spcPct val="102000"/>
              </a:lnSpc>
              <a:spcAft>
                <a:spcPts val="1300"/>
              </a:spcAft>
              <a:buFont typeface="Arial"/>
              <a:buChar char="▪"/>
            </a:pPr>
            <a:r>
              <a:rPr sz="2000" b="0" i="0">
                <a:solidFill>
                  <a:srgbClr val="1A1A1A"/>
                </a:solidFill>
                <a:latin typeface="Segoe UI"/>
              </a:rPr>
              <a:t>300 s is the floor because the lowest frequency of interest, 0.0075 Hz, has a period of about 133 s, so a bout must hold two full cycles</a:t>
            </a:r>
          </a:p>
          <a:p>
            <a:pPr algn="l" marL="274320" indent="-274320">
              <a:lnSpc>
                <a:spcPct val="102000"/>
              </a:lnSpc>
              <a:spcAft>
                <a:spcPts val="1300"/>
              </a:spcAft>
              <a:buFont typeface="Arial"/>
              <a:buChar char="▪"/>
            </a:pPr>
            <a:r>
              <a:rPr sz="2000" b="0" i="0">
                <a:solidFill>
                  <a:srgbClr val="1A1A1A"/>
                </a:solidFill>
                <a:latin typeface="Segoe UI"/>
              </a:rPr>
              <a:t>At least three clean bouts were required per participant</a:t>
            </a:r>
          </a:p>
          <a:p>
            <a:pPr algn="l" marL="274320" indent="-274320">
              <a:lnSpc>
                <a:spcPct val="102000"/>
              </a:lnSpc>
              <a:spcAft>
                <a:spcPts val="1300"/>
              </a:spcAft>
              <a:buFont typeface="Arial"/>
              <a:buChar char="▪"/>
            </a:pPr>
            <a:r>
              <a:rPr sz="2000" b="0" i="0">
                <a:solidFill>
                  <a:srgbClr val="1A1A1A"/>
                </a:solidFill>
                <a:latin typeface="Segoe UI"/>
              </a:rPr>
              <a:t>Across the cohort: 1023 clean bouts, on average 9.8 per participant (range 3 to 21)</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From the EEG to the sigma envelope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 Spindles over one 745 s N2 bout. B) The 45 s window opened out: raw channel, 13 to 16 Hz sigma, and the sigma amplitude envelope, with detected spindles shaded.</a:t>
            </a:r>
          </a:p>
        </p:txBody>
      </p:sp>
      <p:pic>
        <p:nvPicPr>
          <p:cNvPr id="5" name="Picture 4" descr="methods_panel_AB.png"/>
          <p:cNvPicPr>
            <a:picLocks noChangeAspect="1"/>
          </p:cNvPicPr>
          <p:nvPr/>
        </p:nvPicPr>
        <p:blipFill>
          <a:blip r:embed="rId2"/>
          <a:stretch>
            <a:fillRect/>
          </a:stretch>
        </p:blipFill>
        <p:spPr>
          <a:xfrm>
            <a:off x="2063829" y="2084831"/>
            <a:ext cx="8079581" cy="397763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fit, and when we accept it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512064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Normalized bout spectra are averaged within each channel</a:t>
            </a:r>
          </a:p>
          <a:p>
            <a:pPr algn="l" marL="274320" indent="-274320">
              <a:lnSpc>
                <a:spcPct val="102000"/>
              </a:lnSpc>
              <a:spcAft>
                <a:spcPts val="1300"/>
              </a:spcAft>
              <a:buFont typeface="Arial"/>
              <a:buChar char="▪"/>
            </a:pPr>
            <a:r>
              <a:rPr sz="1800" b="0" i="0">
                <a:solidFill>
                  <a:srgbClr val="1A1A1A"/>
                </a:solidFill>
                <a:latin typeface="Segoe UI"/>
              </a:rPr>
              <a:t>A baseline estimated from 0.06 to 0.10 Hz, above the ISFS band, is subtracted, so the peak is measured against a flat floor</a:t>
            </a:r>
          </a:p>
          <a:p>
            <a:pPr algn="l" marL="274320" indent="-274320">
              <a:lnSpc>
                <a:spcPct val="102000"/>
              </a:lnSpc>
              <a:spcAft>
                <a:spcPts val="1300"/>
              </a:spcAft>
              <a:buFont typeface="Arial"/>
              <a:buChar char="▪"/>
            </a:pPr>
            <a:r>
              <a:rPr sz="1800" b="0" i="0">
                <a:solidFill>
                  <a:srgbClr val="1A1A1A"/>
                </a:solidFill>
                <a:latin typeface="Segoe UI"/>
              </a:rPr>
              <a:t>A Gaussian is fitted by least squares: peak frequency, bandwidth, and AUC are read off the fit</a:t>
            </a:r>
          </a:p>
          <a:p>
            <a:pPr algn="l" marL="274320" indent="-274320">
              <a:lnSpc>
                <a:spcPct val="102000"/>
              </a:lnSpc>
              <a:spcAft>
                <a:spcPts val="1300"/>
              </a:spcAft>
              <a:buFont typeface="Arial"/>
              <a:buChar char="▪"/>
            </a:pPr>
            <a:r>
              <a:rPr sz="1800" b="0" i="0">
                <a:solidFill>
                  <a:srgbClr val="1A1A1A"/>
                </a:solidFill>
                <a:latin typeface="Segoe UI"/>
              </a:rPr>
              <a:t>Accepted only if the peak clears 1.5 SD of the spectrum, the peak frequency falls inside 0.0075 to 0.04 Hz, and the integrated area is positive</a:t>
            </a:r>
          </a:p>
          <a:p>
            <a:pPr algn="l" marL="274320" indent="-274320">
              <a:lnSpc>
                <a:spcPct val="102000"/>
              </a:lnSpc>
              <a:spcAft>
                <a:spcPts val="1300"/>
              </a:spcAft>
              <a:buFont typeface="Arial"/>
              <a:buChar char="▪"/>
            </a:pPr>
            <a:r>
              <a:rPr sz="1800" b="0" i="0">
                <a:solidFill>
                  <a:srgbClr val="1A1A1A"/>
                </a:solidFill>
                <a:latin typeface="Segoe UI"/>
              </a:rPr>
              <a:t>Channels failing any check are left missing, not set to zero</a:t>
            </a:r>
          </a:p>
        </p:txBody>
      </p:sp>
      <p:pic>
        <p:nvPicPr>
          <p:cNvPr id="5" name="Picture 4" descr="methods_panel_C.png"/>
          <p:cNvPicPr>
            <a:picLocks noChangeAspect="1"/>
          </p:cNvPicPr>
          <p:nvPr/>
        </p:nvPicPr>
        <p:blipFill>
          <a:blip r:embed="rId2"/>
          <a:stretch>
            <a:fillRect/>
          </a:stretch>
        </p:blipFill>
        <p:spPr>
          <a:xfrm>
            <a:off x="6355080" y="1781485"/>
            <a:ext cx="5394960" cy="388938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region of interest was defined a priori</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Taken from the young-adult AUC hotspot of Dimitriades et al. (2024) and mapped onto the 256-channel montage. Fixed before any group comparison, and identical for every participant.</a:t>
            </a:r>
          </a:p>
        </p:txBody>
      </p:sp>
      <p:pic>
        <p:nvPicPr>
          <p:cNvPr id="5" name="Picture 4" descr="methods_panel_ROI.png"/>
          <p:cNvPicPr>
            <a:picLocks noChangeAspect="1"/>
          </p:cNvPicPr>
          <p:nvPr/>
        </p:nvPicPr>
        <p:blipFill>
          <a:blip r:embed="rId2"/>
          <a:stretch>
            <a:fillRect/>
          </a:stretch>
        </p:blipFill>
        <p:spPr>
          <a:xfrm>
            <a:off x="2180844" y="2084831"/>
            <a:ext cx="7845552" cy="35661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Statistics at three levels of spatial detail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Whole scalp: one value per participant, the mean over channels with an accepted fit</a:t>
            </a:r>
          </a:p>
          <a:p>
            <a:pPr algn="l" marL="274320" indent="-274320">
              <a:lnSpc>
                <a:spcPct val="102000"/>
              </a:lnSpc>
              <a:spcAft>
                <a:spcPts val="1300"/>
              </a:spcAft>
              <a:buFont typeface="Arial"/>
              <a:buChar char="▪"/>
            </a:pPr>
            <a:r>
              <a:rPr sz="2000" b="0" i="0">
                <a:solidFill>
                  <a:srgbClr val="1A1A1A"/>
                </a:solidFill>
                <a:latin typeface="Segoe UI"/>
              </a:rPr>
              <a:t>One-way ANOVA with eta squared where normality and variance homogeneity held, Kruskal-Wallis otherwise; Tukey HSD post-hoc when the omnibus test was significant</a:t>
            </a:r>
          </a:p>
          <a:p>
            <a:pPr algn="l" marL="274320" indent="-274320">
              <a:lnSpc>
                <a:spcPct val="102000"/>
              </a:lnSpc>
              <a:spcAft>
                <a:spcPts val="1300"/>
              </a:spcAft>
              <a:buFont typeface="Arial"/>
              <a:buChar char="▪"/>
            </a:pPr>
            <a:r>
              <a:rPr sz="2000" b="0" i="0">
                <a:solidFill>
                  <a:srgbClr val="1A1A1A"/>
                </a:solidFill>
                <a:latin typeface="Segoe UI"/>
              </a:rPr>
              <a:t>Topography: cluster-based permutation test (F statistic, 5000 permutations, EGI-256 adjacency), Tukey-Kramer post-hoc at each electrode of a significant cluster</a:t>
            </a:r>
          </a:p>
          <a:p>
            <a:pPr algn="l" marL="274320" indent="-274320">
              <a:lnSpc>
                <a:spcPct val="102000"/>
              </a:lnSpc>
              <a:spcAft>
                <a:spcPts val="1300"/>
              </a:spcAft>
              <a:buFont typeface="Arial"/>
              <a:buChar char="▪"/>
            </a:pPr>
            <a:r>
              <a:rPr sz="2000" b="0" i="0">
                <a:solidFill>
                  <a:srgbClr val="1A1A1A"/>
                </a:solidFill>
                <a:latin typeface="Segoe UI"/>
              </a:rPr>
              <a:t>ROI: per-channel values normalized by the participant's whole-scalp mean first, and only then restricted to the ROI</a:t>
            </a:r>
          </a:p>
          <a:p>
            <a:pPr algn="l" marL="274320" indent="-274320">
              <a:lnSpc>
                <a:spcPct val="102000"/>
              </a:lnSpc>
              <a:spcAft>
                <a:spcPts val="1300"/>
              </a:spcAft>
              <a:buFont typeface="Arial"/>
              <a:buChar char="▪"/>
            </a:pPr>
            <a:r>
              <a:rPr sz="2000" b="0" i="0">
                <a:solidFill>
                  <a:srgbClr val="1A1A1A"/>
                </a:solidFill>
                <a:latin typeface="Segoe UI"/>
              </a:rPr>
              <a:t>Where the amount of analyzed N2 sleep could matter, it was entered as a covariate (ANCOVA)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Results</a:t>
            </a:r>
          </a:p>
          <a:p>
            <a:pPr algn="l">
              <a:lnSpc>
                <a:spcPct val="105000"/>
              </a:lnSpc>
              <a:spcAft>
                <a:spcPts val="0"/>
              </a:spcAft>
            </a:pPr>
            <a:r>
              <a:rPr sz="1900" b="0" i="0">
                <a:solidFill>
                  <a:srgbClr val="C9D5E4"/>
                </a:solidFill>
                <a:latin typeface="Segoe UI"/>
              </a:rPr>
              <a:t>Young 35  ·  Elderly 39  ·  aMCI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Sleep changes with age, but N2 stays plentiful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Less N3 and less REM sleep in both older groups (both p &lt; 0.001), while N2, the stage the ISFS lives in, remains the largest stage in all three groups.</a:t>
            </a:r>
          </a:p>
        </p:txBody>
      </p:sp>
      <p:pic>
        <p:nvPicPr>
          <p:cNvPr id="5" name="Picture 4" descr="sleep_stage_pies.png"/>
          <p:cNvPicPr>
            <a:picLocks noChangeAspect="1"/>
          </p:cNvPicPr>
          <p:nvPr/>
        </p:nvPicPr>
        <p:blipFill>
          <a:blip r:embed="rId2"/>
          <a:stretch>
            <a:fillRect/>
          </a:stretch>
        </p:blipFill>
        <p:spPr>
          <a:xfrm>
            <a:off x="2570163" y="2084831"/>
            <a:ext cx="7066912" cy="411480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One whole night per group</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ypno_young.png"/>
          <p:cNvPicPr>
            <a:picLocks noChangeAspect="1"/>
          </p:cNvPicPr>
          <p:nvPr/>
        </p:nvPicPr>
        <p:blipFill>
          <a:blip r:embed="rId2"/>
          <a:stretch>
            <a:fillRect/>
          </a:stretch>
        </p:blipFill>
        <p:spPr>
          <a:xfrm>
            <a:off x="602050" y="1325880"/>
            <a:ext cx="5288139" cy="2057400"/>
          </a:xfrm>
          <a:prstGeom prst="rect">
            <a:avLst/>
          </a:prstGeom>
        </p:spPr>
      </p:pic>
      <p:sp>
        <p:nvSpPr>
          <p:cNvPr id="5" name="TextBox 4"/>
          <p:cNvSpPr txBox="1"/>
          <p:nvPr/>
        </p:nvSpPr>
        <p:spPr>
          <a:xfrm>
            <a:off x="457200" y="3438144"/>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Young</a:t>
            </a:r>
          </a:p>
        </p:txBody>
      </p:sp>
      <p:pic>
        <p:nvPicPr>
          <p:cNvPr id="6" name="Picture 5" descr="hypno_elderly.png"/>
          <p:cNvPicPr>
            <a:picLocks noChangeAspect="1"/>
          </p:cNvPicPr>
          <p:nvPr/>
        </p:nvPicPr>
        <p:blipFill>
          <a:blip r:embed="rId3"/>
          <a:stretch>
            <a:fillRect/>
          </a:stretch>
        </p:blipFill>
        <p:spPr>
          <a:xfrm>
            <a:off x="6317050" y="1325880"/>
            <a:ext cx="5288139" cy="2057400"/>
          </a:xfrm>
          <a:prstGeom prst="rect">
            <a:avLst/>
          </a:prstGeom>
        </p:spPr>
      </p:pic>
      <p:sp>
        <p:nvSpPr>
          <p:cNvPr id="7" name="TextBox 6"/>
          <p:cNvSpPr txBox="1"/>
          <p:nvPr/>
        </p:nvSpPr>
        <p:spPr>
          <a:xfrm>
            <a:off x="6172200" y="3438144"/>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Elderly</a:t>
            </a:r>
          </a:p>
        </p:txBody>
      </p:sp>
      <p:pic>
        <p:nvPicPr>
          <p:cNvPr id="8" name="Picture 7" descr="hypno_amci.png"/>
          <p:cNvPicPr>
            <a:picLocks noChangeAspect="1"/>
          </p:cNvPicPr>
          <p:nvPr/>
        </p:nvPicPr>
        <p:blipFill>
          <a:blip r:embed="rId4"/>
          <a:stretch>
            <a:fillRect/>
          </a:stretch>
        </p:blipFill>
        <p:spPr>
          <a:xfrm>
            <a:off x="3436690" y="3931920"/>
            <a:ext cx="5288139" cy="2057400"/>
          </a:xfrm>
          <a:prstGeom prst="rect">
            <a:avLst/>
          </a:prstGeom>
        </p:spPr>
      </p:pic>
      <p:sp>
        <p:nvSpPr>
          <p:cNvPr id="9" name="TextBox 8"/>
          <p:cNvSpPr txBox="1"/>
          <p:nvPr/>
        </p:nvSpPr>
        <p:spPr>
          <a:xfrm>
            <a:off x="3291840" y="6044183"/>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aMCI</a:t>
            </a:r>
          </a:p>
        </p:txBody>
      </p:sp>
      <p:sp>
        <p:nvSpPr>
          <p:cNvPr id="10" name="TextBox 9"/>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1" name="TextBox 10"/>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Sleep architecture and continuity</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The normative aging pattern, and on every measure elderly and aMCI are statistically indistinguishable (all p &gt;= 0.11).</a:t>
            </a:r>
          </a:p>
        </p:txBody>
      </p:sp>
      <p:graphicFrame>
        <p:nvGraphicFramePr>
          <p:cNvPr id="5" name="Table 4"/>
          <p:cNvGraphicFramePr>
            <a:graphicFrameLocks noGrp="1"/>
          </p:cNvGraphicFramePr>
          <p:nvPr/>
        </p:nvGraphicFramePr>
        <p:xfrm>
          <a:off x="563727" y="2057400"/>
          <a:ext cx="11064239" cy="3657600"/>
        </p:xfrm>
        <a:graphic>
          <a:graphicData uri="http://schemas.openxmlformats.org/drawingml/2006/table">
            <a:tbl>
              <a:tblPr firstRow="1" bandRow="1">
                <a:tableStyleId>{5C22544A-7EE6-4342-B048-85BDC9FD1C3A}</a:tableStyleId>
              </a:tblPr>
              <a:tblGrid>
                <a:gridCol w="3017520"/>
                <a:gridCol w="2057400"/>
                <a:gridCol w="2057400"/>
                <a:gridCol w="2057400"/>
                <a:gridCol w="1874519"/>
              </a:tblGrid>
              <a:tr h="457200">
                <a:tc>
                  <a:txBody>
                    <a:bodyPr/>
                    <a:lstStyle/>
                    <a:p>
                      <a:pPr algn="l"/>
                    </a:p>
                  </a:txBody>
                  <a:tcPr marL="91440" marR="73152" marT="27432" marB="27432" anchor="ctr">
                    <a:solidFill>
                      <a:srgbClr val="1F3A5F"/>
                    </a:solidFill>
                  </a:tcPr>
                </a:tc>
                <a:tc>
                  <a:txBody>
                    <a:bodyPr/>
                    <a:lstStyle/>
                    <a:p>
                      <a:pPr algn="ctr"/>
                      <a:r>
                        <a:rPr sz="1700" b="1">
                          <a:solidFill>
                            <a:srgbClr val="FFFFFF"/>
                          </a:solidFill>
                          <a:latin typeface="Segoe UI"/>
                        </a:rPr>
                        <a:t>Young</a:t>
                      </a:r>
                    </a:p>
                  </a:txBody>
                  <a:tcPr marL="91440" marR="73152" marT="27432" marB="27432" anchor="ctr">
                    <a:solidFill>
                      <a:srgbClr val="2F9C86"/>
                    </a:solidFill>
                  </a:tcPr>
                </a:tc>
                <a:tc>
                  <a:txBody>
                    <a:bodyPr/>
                    <a:lstStyle/>
                    <a:p>
                      <a:pPr algn="ctr"/>
                      <a:r>
                        <a:rPr sz="1700" b="1">
                          <a:solidFill>
                            <a:srgbClr val="FFFFFF"/>
                          </a:solidFill>
                          <a:latin typeface="Segoe UI"/>
                        </a:rPr>
                        <a:t>Elderly</a:t>
                      </a:r>
                    </a:p>
                  </a:txBody>
                  <a:tcPr marL="91440" marR="73152" marT="27432" marB="27432" anchor="ctr">
                    <a:solidFill>
                      <a:srgbClr val="D0402C"/>
                    </a:solidFill>
                  </a:tcPr>
                </a:tc>
                <a:tc>
                  <a:txBody>
                    <a:bodyPr/>
                    <a:lstStyle/>
                    <a:p>
                      <a:pPr algn="ctr"/>
                      <a:r>
                        <a:rPr sz="1700" b="1">
                          <a:solidFill>
                            <a:srgbClr val="FFFFFF"/>
                          </a:solidFill>
                          <a:latin typeface="Segoe UI"/>
                        </a:rPr>
                        <a:t>aMCI</a:t>
                      </a:r>
                    </a:p>
                  </a:txBody>
                  <a:tcPr marL="91440" marR="73152" marT="27432" marB="27432" anchor="ctr">
                    <a:solidFill>
                      <a:srgbClr val="2F7FAE"/>
                    </a:solidFill>
                  </a:tcPr>
                </a:tc>
                <a:tc>
                  <a:txBody>
                    <a:bodyPr/>
                    <a:lstStyle/>
                    <a:p>
                      <a:pPr algn="ctr"/>
                      <a:r>
                        <a:rPr sz="1700" b="1">
                          <a:solidFill>
                            <a:srgbClr val="FFFFFF"/>
                          </a:solidFill>
                          <a:latin typeface="Segoe UI"/>
                        </a:rPr>
                        <a:t>omnibus p</a:t>
                      </a:r>
                    </a:p>
                  </a:txBody>
                  <a:tcPr marL="91440" marR="73152" marT="27432" marB="27432" anchor="ctr">
                    <a:solidFill>
                      <a:srgbClr val="1F3A5F"/>
                    </a:solidFill>
                  </a:tcPr>
                </a:tc>
              </a:tr>
              <a:tr h="457200">
                <a:tc>
                  <a:txBody>
                    <a:bodyPr/>
                    <a:lstStyle/>
                    <a:p>
                      <a:pPr algn="l"/>
                      <a:r>
                        <a:rPr sz="1700" b="0">
                          <a:solidFill>
                            <a:srgbClr val="1A1A1A"/>
                          </a:solidFill>
                          <a:latin typeface="Segoe UI"/>
                        </a:rPr>
                        <a:t>Wake (%)</a:t>
                      </a:r>
                    </a:p>
                  </a:txBody>
                  <a:tcPr marL="91440" marR="73152" marT="27432" marB="27432" anchor="ctr">
                    <a:solidFill>
                      <a:srgbClr val="FFFFFF"/>
                    </a:solidFill>
                  </a:tcPr>
                </a:tc>
                <a:tc>
                  <a:txBody>
                    <a:bodyPr/>
                    <a:lstStyle/>
                    <a:p>
                      <a:pPr algn="ctr"/>
                      <a:r>
                        <a:rPr sz="1700" b="0">
                          <a:solidFill>
                            <a:srgbClr val="1A1A1A"/>
                          </a:solidFill>
                          <a:latin typeface="Segoe UI"/>
                        </a:rPr>
                        <a:t>9.9 ± 6.6</a:t>
                      </a:r>
                    </a:p>
                  </a:txBody>
                  <a:tcPr marL="91440" marR="73152" marT="27432" marB="27432" anchor="ctr">
                    <a:solidFill>
                      <a:srgbClr val="FFFFFF"/>
                    </a:solidFill>
                  </a:tcPr>
                </a:tc>
                <a:tc>
                  <a:txBody>
                    <a:bodyPr/>
                    <a:lstStyle/>
                    <a:p>
                      <a:pPr algn="ctr"/>
                      <a:r>
                        <a:rPr sz="1700" b="0">
                          <a:solidFill>
                            <a:srgbClr val="1A1A1A"/>
                          </a:solidFill>
                          <a:latin typeface="Segoe UI"/>
                        </a:rPr>
                        <a:t>15.2 ± 7.5</a:t>
                      </a:r>
                    </a:p>
                  </a:txBody>
                  <a:tcPr marL="91440" marR="73152" marT="27432" marB="27432" anchor="ctr">
                    <a:solidFill>
                      <a:srgbClr val="FFFFFF"/>
                    </a:solidFill>
                  </a:tcPr>
                </a:tc>
                <a:tc>
                  <a:txBody>
                    <a:bodyPr/>
                    <a:lstStyle/>
                    <a:p>
                      <a:pPr algn="ctr"/>
                      <a:r>
                        <a:rPr sz="1700" b="0">
                          <a:solidFill>
                            <a:srgbClr val="1A1A1A"/>
                          </a:solidFill>
                          <a:latin typeface="Segoe UI"/>
                        </a:rPr>
                        <a:t>21.1 ± 11.8</a:t>
                      </a:r>
                    </a:p>
                  </a:txBody>
                  <a:tcPr marL="91440" marR="73152" marT="27432" marB="27432" anchor="ctr">
                    <a:solidFill>
                      <a:srgbClr val="FFFFFF"/>
                    </a:solidFill>
                  </a:tcPr>
                </a:tc>
                <a:tc>
                  <a:txBody>
                    <a:bodyPr/>
                    <a:lstStyle/>
                    <a:p>
                      <a:pPr algn="ctr"/>
                      <a:r>
                        <a:rPr sz="1700" b="0">
                          <a:solidFill>
                            <a:srgbClr val="1A1A1A"/>
                          </a:solidFill>
                          <a:latin typeface="Segoe UI"/>
                        </a:rPr>
                        <a:t>&lt; 0.0001</a:t>
                      </a:r>
                    </a:p>
                  </a:txBody>
                  <a:tcPr marL="91440" marR="73152" marT="27432" marB="27432" anchor="ctr">
                    <a:solidFill>
                      <a:srgbClr val="FFFFFF"/>
                    </a:solidFill>
                  </a:tcPr>
                </a:tc>
              </a:tr>
              <a:tr h="457200">
                <a:tc>
                  <a:txBody>
                    <a:bodyPr/>
                    <a:lstStyle/>
                    <a:p>
                      <a:pPr algn="l"/>
                      <a:r>
                        <a:rPr sz="1700" b="0">
                          <a:solidFill>
                            <a:srgbClr val="1A1A1A"/>
                          </a:solidFill>
                          <a:latin typeface="Segoe UI"/>
                        </a:rPr>
                        <a:t>N1 (%)</a:t>
                      </a:r>
                    </a:p>
                  </a:txBody>
                  <a:tcPr marL="91440" marR="73152" marT="27432" marB="27432" anchor="ctr">
                    <a:solidFill>
                      <a:srgbClr val="F2F5F8"/>
                    </a:solidFill>
                  </a:tcPr>
                </a:tc>
                <a:tc>
                  <a:txBody>
                    <a:bodyPr/>
                    <a:lstStyle/>
                    <a:p>
                      <a:pPr algn="ctr"/>
                      <a:r>
                        <a:rPr sz="1700" b="0">
                          <a:solidFill>
                            <a:srgbClr val="1A1A1A"/>
                          </a:solidFill>
                          <a:latin typeface="Segoe UI"/>
                        </a:rPr>
                        <a:t>3.4 ± 2.5</a:t>
                      </a:r>
                    </a:p>
                  </a:txBody>
                  <a:tcPr marL="91440" marR="73152" marT="27432" marB="27432" anchor="ctr">
                    <a:solidFill>
                      <a:srgbClr val="F2F5F8"/>
                    </a:solidFill>
                  </a:tcPr>
                </a:tc>
                <a:tc>
                  <a:txBody>
                    <a:bodyPr/>
                    <a:lstStyle/>
                    <a:p>
                      <a:pPr algn="ctr"/>
                      <a:r>
                        <a:rPr sz="1700" b="0">
                          <a:solidFill>
                            <a:srgbClr val="1A1A1A"/>
                          </a:solidFill>
                          <a:latin typeface="Segoe UI"/>
                        </a:rPr>
                        <a:t>9.3 ± 6.2</a:t>
                      </a:r>
                    </a:p>
                  </a:txBody>
                  <a:tcPr marL="91440" marR="73152" marT="27432" marB="27432" anchor="ctr">
                    <a:solidFill>
                      <a:srgbClr val="F2F5F8"/>
                    </a:solidFill>
                  </a:tcPr>
                </a:tc>
                <a:tc>
                  <a:txBody>
                    <a:bodyPr/>
                    <a:lstStyle/>
                    <a:p>
                      <a:pPr algn="ctr"/>
                      <a:r>
                        <a:rPr sz="1700" b="0">
                          <a:solidFill>
                            <a:srgbClr val="1A1A1A"/>
                          </a:solidFill>
                          <a:latin typeface="Segoe UI"/>
                        </a:rPr>
                        <a:t>10.0 ± 5.6</a:t>
                      </a:r>
                    </a:p>
                  </a:txBody>
                  <a:tcPr marL="91440" marR="73152" marT="27432" marB="27432" anchor="ctr">
                    <a:solidFill>
                      <a:srgbClr val="F2F5F8"/>
                    </a:solidFill>
                  </a:tcPr>
                </a:tc>
                <a:tc>
                  <a:txBody>
                    <a:bodyPr/>
                    <a:lstStyle/>
                    <a:p>
                      <a:pPr algn="ctr"/>
                      <a:r>
                        <a:rPr sz="1700" b="0">
                          <a:solidFill>
                            <a:srgbClr val="1A1A1A"/>
                          </a:solidFill>
                          <a:latin typeface="Segoe UI"/>
                        </a:rPr>
                        <a:t>&lt; 0.0001</a:t>
                      </a:r>
                    </a:p>
                  </a:txBody>
                  <a:tcPr marL="91440" marR="73152" marT="27432" marB="27432" anchor="ctr">
                    <a:solidFill>
                      <a:srgbClr val="F2F5F8"/>
                    </a:solidFill>
                  </a:tcPr>
                </a:tc>
              </a:tr>
              <a:tr h="457200">
                <a:tc>
                  <a:txBody>
                    <a:bodyPr/>
                    <a:lstStyle/>
                    <a:p>
                      <a:pPr algn="l"/>
                      <a:r>
                        <a:rPr sz="1700" b="0">
                          <a:solidFill>
                            <a:srgbClr val="1A1A1A"/>
                          </a:solidFill>
                          <a:latin typeface="Segoe UI"/>
                        </a:rPr>
                        <a:t>N2 (%)</a:t>
                      </a:r>
                    </a:p>
                  </a:txBody>
                  <a:tcPr marL="91440" marR="73152" marT="27432" marB="27432" anchor="ctr">
                    <a:solidFill>
                      <a:srgbClr val="FFFFFF"/>
                    </a:solidFill>
                  </a:tcPr>
                </a:tc>
                <a:tc>
                  <a:txBody>
                    <a:bodyPr/>
                    <a:lstStyle/>
                    <a:p>
                      <a:pPr algn="ctr"/>
                      <a:r>
                        <a:rPr sz="1700" b="0">
                          <a:solidFill>
                            <a:srgbClr val="1A1A1A"/>
                          </a:solidFill>
                          <a:latin typeface="Segoe UI"/>
                        </a:rPr>
                        <a:t>34.1 ± 13.2</a:t>
                      </a:r>
                    </a:p>
                  </a:txBody>
                  <a:tcPr marL="91440" marR="73152" marT="27432" marB="27432" anchor="ctr">
                    <a:solidFill>
                      <a:srgbClr val="FFFFFF"/>
                    </a:solidFill>
                  </a:tcPr>
                </a:tc>
                <a:tc>
                  <a:txBody>
                    <a:bodyPr/>
                    <a:lstStyle/>
                    <a:p>
                      <a:pPr algn="ctr"/>
                      <a:r>
                        <a:rPr sz="1700" b="0">
                          <a:solidFill>
                            <a:srgbClr val="1A1A1A"/>
                          </a:solidFill>
                          <a:latin typeface="Segoe UI"/>
                        </a:rPr>
                        <a:t>44.5 ± 11.7</a:t>
                      </a:r>
                    </a:p>
                  </a:txBody>
                  <a:tcPr marL="91440" marR="73152" marT="27432" marB="27432" anchor="ctr">
                    <a:solidFill>
                      <a:srgbClr val="FFFFFF"/>
                    </a:solidFill>
                  </a:tcPr>
                </a:tc>
                <a:tc>
                  <a:txBody>
                    <a:bodyPr/>
                    <a:lstStyle/>
                    <a:p>
                      <a:pPr algn="ctr"/>
                      <a:r>
                        <a:rPr sz="1700" b="0">
                          <a:solidFill>
                            <a:srgbClr val="1A1A1A"/>
                          </a:solidFill>
                          <a:latin typeface="Segoe UI"/>
                        </a:rPr>
                        <a:t>39.0 ± 12.3</a:t>
                      </a:r>
                    </a:p>
                  </a:txBody>
                  <a:tcPr marL="91440" marR="73152" marT="27432" marB="27432" anchor="ctr">
                    <a:solidFill>
                      <a:srgbClr val="FFFFFF"/>
                    </a:solidFill>
                  </a:tcPr>
                </a:tc>
                <a:tc>
                  <a:txBody>
                    <a:bodyPr/>
                    <a:lstStyle/>
                    <a:p>
                      <a:pPr algn="ctr"/>
                      <a:r>
                        <a:rPr sz="1700" b="0">
                          <a:solidFill>
                            <a:srgbClr val="1A1A1A"/>
                          </a:solidFill>
                          <a:latin typeface="Segoe UI"/>
                        </a:rPr>
                        <a:t>0.0009</a:t>
                      </a:r>
                    </a:p>
                  </a:txBody>
                  <a:tcPr marL="91440" marR="73152" marT="27432" marB="27432" anchor="ctr">
                    <a:solidFill>
                      <a:srgbClr val="FFFFFF"/>
                    </a:solidFill>
                  </a:tcPr>
                </a:tc>
              </a:tr>
              <a:tr h="457200">
                <a:tc>
                  <a:txBody>
                    <a:bodyPr/>
                    <a:lstStyle/>
                    <a:p>
                      <a:pPr algn="l"/>
                      <a:r>
                        <a:rPr sz="1700" b="0">
                          <a:solidFill>
                            <a:srgbClr val="1A1A1A"/>
                          </a:solidFill>
                          <a:latin typeface="Segoe UI"/>
                        </a:rPr>
                        <a:t>N3 (%)</a:t>
                      </a:r>
                    </a:p>
                  </a:txBody>
                  <a:tcPr marL="91440" marR="73152" marT="27432" marB="27432" anchor="ctr">
                    <a:solidFill>
                      <a:srgbClr val="F2F5F8"/>
                    </a:solidFill>
                  </a:tcPr>
                </a:tc>
                <a:tc>
                  <a:txBody>
                    <a:bodyPr/>
                    <a:lstStyle/>
                    <a:p>
                      <a:pPr algn="ctr"/>
                      <a:r>
                        <a:rPr sz="1700" b="0">
                          <a:solidFill>
                            <a:srgbClr val="1A1A1A"/>
                          </a:solidFill>
                          <a:latin typeface="Segoe UI"/>
                        </a:rPr>
                        <a:t>27.9 ± 8.7</a:t>
                      </a:r>
                    </a:p>
                  </a:txBody>
                  <a:tcPr marL="91440" marR="73152" marT="27432" marB="27432" anchor="ctr">
                    <a:solidFill>
                      <a:srgbClr val="F2F5F8"/>
                    </a:solidFill>
                  </a:tcPr>
                </a:tc>
                <a:tc>
                  <a:txBody>
                    <a:bodyPr/>
                    <a:lstStyle/>
                    <a:p>
                      <a:pPr algn="ctr"/>
                      <a:r>
                        <a:rPr sz="1700" b="0">
                          <a:solidFill>
                            <a:srgbClr val="1A1A1A"/>
                          </a:solidFill>
                          <a:latin typeface="Segoe UI"/>
                        </a:rPr>
                        <a:t>18.4 ± 9.7</a:t>
                      </a:r>
                    </a:p>
                  </a:txBody>
                  <a:tcPr marL="91440" marR="73152" marT="27432" marB="27432" anchor="ctr">
                    <a:solidFill>
                      <a:srgbClr val="F2F5F8"/>
                    </a:solidFill>
                  </a:tcPr>
                </a:tc>
                <a:tc>
                  <a:txBody>
                    <a:bodyPr/>
                    <a:lstStyle/>
                    <a:p>
                      <a:pPr algn="ctr"/>
                      <a:r>
                        <a:rPr sz="1700" b="0">
                          <a:solidFill>
                            <a:srgbClr val="1A1A1A"/>
                          </a:solidFill>
                          <a:latin typeface="Segoe UI"/>
                        </a:rPr>
                        <a:t>19.3 ± 9.9</a:t>
                      </a:r>
                    </a:p>
                  </a:txBody>
                  <a:tcPr marL="91440" marR="73152" marT="27432" marB="27432" anchor="ctr">
                    <a:solidFill>
                      <a:srgbClr val="F2F5F8"/>
                    </a:solidFill>
                  </a:tcPr>
                </a:tc>
                <a:tc>
                  <a:txBody>
                    <a:bodyPr/>
                    <a:lstStyle/>
                    <a:p>
                      <a:pPr algn="ctr"/>
                      <a:r>
                        <a:rPr sz="1700" b="0">
                          <a:solidFill>
                            <a:srgbClr val="1A1A1A"/>
                          </a:solidFill>
                          <a:latin typeface="Segoe UI"/>
                        </a:rPr>
                        <a:t>0.0001</a:t>
                      </a:r>
                    </a:p>
                  </a:txBody>
                  <a:tcPr marL="91440" marR="73152" marT="27432" marB="27432" anchor="ctr">
                    <a:solidFill>
                      <a:srgbClr val="F2F5F8"/>
                    </a:solidFill>
                  </a:tcPr>
                </a:tc>
              </a:tr>
              <a:tr h="457200">
                <a:tc>
                  <a:txBody>
                    <a:bodyPr/>
                    <a:lstStyle/>
                    <a:p>
                      <a:pPr algn="l"/>
                      <a:r>
                        <a:rPr sz="1700" b="0">
                          <a:solidFill>
                            <a:srgbClr val="1A1A1A"/>
                          </a:solidFill>
                          <a:latin typeface="Segoe UI"/>
                        </a:rPr>
                        <a:t>REM (%)</a:t>
                      </a:r>
                    </a:p>
                  </a:txBody>
                  <a:tcPr marL="91440" marR="73152" marT="27432" marB="27432" anchor="ctr">
                    <a:solidFill>
                      <a:srgbClr val="FFFFFF"/>
                    </a:solidFill>
                  </a:tcPr>
                </a:tc>
                <a:tc>
                  <a:txBody>
                    <a:bodyPr/>
                    <a:lstStyle/>
                    <a:p>
                      <a:pPr algn="ctr"/>
                      <a:r>
                        <a:rPr sz="1700" b="0">
                          <a:solidFill>
                            <a:srgbClr val="1A1A1A"/>
                          </a:solidFill>
                          <a:latin typeface="Segoe UI"/>
                        </a:rPr>
                        <a:t>23.9 ± 10.4</a:t>
                      </a:r>
                    </a:p>
                  </a:txBody>
                  <a:tcPr marL="91440" marR="73152" marT="27432" marB="27432" anchor="ctr">
                    <a:solidFill>
                      <a:srgbClr val="FFFFFF"/>
                    </a:solidFill>
                  </a:tcPr>
                </a:tc>
                <a:tc>
                  <a:txBody>
                    <a:bodyPr/>
                    <a:lstStyle/>
                    <a:p>
                      <a:pPr algn="ctr"/>
                      <a:r>
                        <a:rPr sz="1700" b="0">
                          <a:solidFill>
                            <a:srgbClr val="1A1A1A"/>
                          </a:solidFill>
                          <a:latin typeface="Segoe UI"/>
                        </a:rPr>
                        <a:t>11.4 ± 5.0</a:t>
                      </a:r>
                    </a:p>
                  </a:txBody>
                  <a:tcPr marL="91440" marR="73152" marT="27432" marB="27432" anchor="ctr">
                    <a:solidFill>
                      <a:srgbClr val="FFFFFF"/>
                    </a:solidFill>
                  </a:tcPr>
                </a:tc>
                <a:tc>
                  <a:txBody>
                    <a:bodyPr/>
                    <a:lstStyle/>
                    <a:p>
                      <a:pPr algn="ctr"/>
                      <a:r>
                        <a:rPr sz="1700" b="0">
                          <a:solidFill>
                            <a:srgbClr val="1A1A1A"/>
                          </a:solidFill>
                          <a:latin typeface="Segoe UI"/>
                        </a:rPr>
                        <a:t>10.3 ± 5.2</a:t>
                      </a:r>
                    </a:p>
                  </a:txBody>
                  <a:tcPr marL="91440" marR="73152" marT="27432" marB="27432" anchor="ctr">
                    <a:solidFill>
                      <a:srgbClr val="FFFFFF"/>
                    </a:solidFill>
                  </a:tcPr>
                </a:tc>
                <a:tc>
                  <a:txBody>
                    <a:bodyPr/>
                    <a:lstStyle/>
                    <a:p>
                      <a:pPr algn="ctr"/>
                      <a:r>
                        <a:rPr sz="1700" b="0">
                          <a:solidFill>
                            <a:srgbClr val="1A1A1A"/>
                          </a:solidFill>
                          <a:latin typeface="Segoe UI"/>
                        </a:rPr>
                        <a:t>&lt; 0.0001</a:t>
                      </a:r>
                    </a:p>
                  </a:txBody>
                  <a:tcPr marL="91440" marR="73152" marT="27432" marB="27432" anchor="ctr">
                    <a:solidFill>
                      <a:srgbClr val="FFFFFF"/>
                    </a:solidFill>
                  </a:tcPr>
                </a:tc>
              </a:tr>
              <a:tr h="457200">
                <a:tc>
                  <a:txBody>
                    <a:bodyPr/>
                    <a:lstStyle/>
                    <a:p>
                      <a:pPr algn="l"/>
                      <a:r>
                        <a:rPr sz="1700" b="0">
                          <a:solidFill>
                            <a:srgbClr val="1A1A1A"/>
                          </a:solidFill>
                          <a:latin typeface="Segoe UI"/>
                        </a:rPr>
                        <a:t>WASO (min)</a:t>
                      </a:r>
                    </a:p>
                  </a:txBody>
                  <a:tcPr marL="91440" marR="73152" marT="27432" marB="27432" anchor="ctr">
                    <a:solidFill>
                      <a:srgbClr val="F2F5F8"/>
                    </a:solidFill>
                  </a:tcPr>
                </a:tc>
                <a:tc>
                  <a:txBody>
                    <a:bodyPr/>
                    <a:lstStyle/>
                    <a:p>
                      <a:pPr algn="ctr"/>
                      <a:r>
                        <a:rPr sz="1700" b="0">
                          <a:solidFill>
                            <a:srgbClr val="1A1A1A"/>
                          </a:solidFill>
                          <a:latin typeface="Segoe UI"/>
                        </a:rPr>
                        <a:t>23.2 ± 19.6</a:t>
                      </a:r>
                    </a:p>
                  </a:txBody>
                  <a:tcPr marL="91440" marR="73152" marT="27432" marB="27432" anchor="ctr">
                    <a:solidFill>
                      <a:srgbClr val="F2F5F8"/>
                    </a:solidFill>
                  </a:tcPr>
                </a:tc>
                <a:tc>
                  <a:txBody>
                    <a:bodyPr/>
                    <a:lstStyle/>
                    <a:p>
                      <a:pPr algn="ctr"/>
                      <a:r>
                        <a:rPr sz="1700" b="0">
                          <a:solidFill>
                            <a:srgbClr val="1A1A1A"/>
                          </a:solidFill>
                          <a:latin typeface="Segoe UI"/>
                        </a:rPr>
                        <a:t>51.9 ± 30.0</a:t>
                      </a:r>
                    </a:p>
                  </a:txBody>
                  <a:tcPr marL="91440" marR="73152" marT="27432" marB="27432" anchor="ctr">
                    <a:solidFill>
                      <a:srgbClr val="F2F5F8"/>
                    </a:solidFill>
                  </a:tcPr>
                </a:tc>
                <a:tc>
                  <a:txBody>
                    <a:bodyPr/>
                    <a:lstStyle/>
                    <a:p>
                      <a:pPr algn="ctr"/>
                      <a:r>
                        <a:rPr sz="1700" b="0">
                          <a:solidFill>
                            <a:srgbClr val="1A1A1A"/>
                          </a:solidFill>
                          <a:latin typeface="Segoe UI"/>
                        </a:rPr>
                        <a:t>71.0 ± 46.3</a:t>
                      </a:r>
                    </a:p>
                  </a:txBody>
                  <a:tcPr marL="91440" marR="73152" marT="27432" marB="27432" anchor="ctr">
                    <a:solidFill>
                      <a:srgbClr val="F2F5F8"/>
                    </a:solidFill>
                  </a:tcPr>
                </a:tc>
                <a:tc>
                  <a:txBody>
                    <a:bodyPr/>
                    <a:lstStyle/>
                    <a:p>
                      <a:pPr algn="ctr"/>
                      <a:r>
                        <a:rPr sz="1700" b="0">
                          <a:solidFill>
                            <a:srgbClr val="1A1A1A"/>
                          </a:solidFill>
                          <a:latin typeface="Segoe UI"/>
                        </a:rPr>
                        <a:t>&lt; 0.0001</a:t>
                      </a:r>
                    </a:p>
                  </a:txBody>
                  <a:tcPr marL="91440" marR="73152" marT="27432" marB="27432" anchor="ctr">
                    <a:solidFill>
                      <a:srgbClr val="F2F5F8"/>
                    </a:solidFill>
                  </a:tcPr>
                </a:tc>
              </a:tr>
              <a:tr h="457200">
                <a:tc>
                  <a:txBody>
                    <a:bodyPr/>
                    <a:lstStyle/>
                    <a:p>
                      <a:pPr algn="l"/>
                      <a:r>
                        <a:rPr sz="1700" b="0">
                          <a:solidFill>
                            <a:srgbClr val="1A1A1A"/>
                          </a:solidFill>
                          <a:latin typeface="Segoe UI"/>
                        </a:rPr>
                        <a:t>Sleep efficiency (%)</a:t>
                      </a:r>
                    </a:p>
                  </a:txBody>
                  <a:tcPr marL="91440" marR="73152" marT="27432" marB="27432" anchor="ctr">
                    <a:solidFill>
                      <a:srgbClr val="FFFFFF"/>
                    </a:solidFill>
                  </a:tcPr>
                </a:tc>
                <a:tc>
                  <a:txBody>
                    <a:bodyPr/>
                    <a:lstStyle/>
                    <a:p>
                      <a:pPr algn="ctr"/>
                      <a:r>
                        <a:rPr sz="1700" b="0">
                          <a:solidFill>
                            <a:srgbClr val="1A1A1A"/>
                          </a:solidFill>
                          <a:latin typeface="Segoe UI"/>
                        </a:rPr>
                        <a:t>89.2 ± 6.7</a:t>
                      </a:r>
                    </a:p>
                  </a:txBody>
                  <a:tcPr marL="91440" marR="73152" marT="27432" marB="27432" anchor="ctr">
                    <a:solidFill>
                      <a:srgbClr val="FFFFFF"/>
                    </a:solidFill>
                  </a:tcPr>
                </a:tc>
                <a:tc>
                  <a:txBody>
                    <a:bodyPr/>
                    <a:lstStyle/>
                    <a:p>
                      <a:pPr algn="ctr"/>
                      <a:r>
                        <a:rPr sz="1700" b="0">
                          <a:solidFill>
                            <a:srgbClr val="1A1A1A"/>
                          </a:solidFill>
                          <a:latin typeface="Segoe UI"/>
                        </a:rPr>
                        <a:t>83.6 ± 8.5</a:t>
                      </a:r>
                    </a:p>
                  </a:txBody>
                  <a:tcPr marL="91440" marR="73152" marT="27432" marB="27432" anchor="ctr">
                    <a:solidFill>
                      <a:srgbClr val="FFFFFF"/>
                    </a:solidFill>
                  </a:tcPr>
                </a:tc>
                <a:tc>
                  <a:txBody>
                    <a:bodyPr/>
                    <a:lstStyle/>
                    <a:p>
                      <a:pPr algn="ctr"/>
                      <a:r>
                        <a:rPr sz="1700" b="0">
                          <a:solidFill>
                            <a:srgbClr val="1A1A1A"/>
                          </a:solidFill>
                          <a:latin typeface="Segoe UI"/>
                        </a:rPr>
                        <a:t>78.6 ± 11.7</a:t>
                      </a:r>
                    </a:p>
                  </a:txBody>
                  <a:tcPr marL="91440" marR="73152" marT="27432" marB="27432" anchor="ctr">
                    <a:solidFill>
                      <a:srgbClr val="FFFFFF"/>
                    </a:solidFill>
                  </a:tcPr>
                </a:tc>
                <a:tc>
                  <a:txBody>
                    <a:bodyPr/>
                    <a:lstStyle/>
                    <a:p>
                      <a:pPr algn="ctr"/>
                      <a:r>
                        <a:rPr sz="1700" b="0">
                          <a:solidFill>
                            <a:srgbClr val="1A1A1A"/>
                          </a:solidFill>
                          <a:latin typeface="Segoe UI"/>
                        </a:rPr>
                        <a:t>0.0001</a:t>
                      </a:r>
                    </a:p>
                  </a:txBody>
                  <a:tcPr marL="91440" marR="73152" marT="27432" marB="27432" anchor="ctr">
                    <a:solidFill>
                      <a:srgbClr val="FFFFFF"/>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Is the N2 that entered the analysis comparable?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39" cy="2286000"/>
        </p:xfrm>
        <a:graphic>
          <a:graphicData uri="http://schemas.openxmlformats.org/drawingml/2006/table">
            <a:tbl>
              <a:tblPr firstRow="1" bandRow="1">
                <a:tableStyleId>{5C22544A-7EE6-4342-B048-85BDC9FD1C3A}</a:tableStyleId>
              </a:tblPr>
              <a:tblGrid>
                <a:gridCol w="3017520"/>
                <a:gridCol w="2057400"/>
                <a:gridCol w="2057400"/>
                <a:gridCol w="2057400"/>
                <a:gridCol w="1874519"/>
              </a:tblGrid>
              <a:tr h="457200">
                <a:tc>
                  <a:txBody>
                    <a:bodyPr/>
                    <a:lstStyle/>
                    <a:p>
                      <a:pPr algn="l"/>
                    </a:p>
                  </a:txBody>
                  <a:tcPr marL="91440" marR="73152" marT="27432" marB="27432" anchor="ctr">
                    <a:solidFill>
                      <a:srgbClr val="1F3A5F"/>
                    </a:solidFill>
                  </a:tcPr>
                </a:tc>
                <a:tc>
                  <a:txBody>
                    <a:bodyPr/>
                    <a:lstStyle/>
                    <a:p>
                      <a:pPr algn="ctr"/>
                      <a:r>
                        <a:rPr sz="1700" b="1">
                          <a:solidFill>
                            <a:srgbClr val="FFFFFF"/>
                          </a:solidFill>
                          <a:latin typeface="Segoe UI"/>
                        </a:rPr>
                        <a:t>Young</a:t>
                      </a:r>
                    </a:p>
                  </a:txBody>
                  <a:tcPr marL="91440" marR="73152" marT="27432" marB="27432" anchor="ctr">
                    <a:solidFill>
                      <a:srgbClr val="2F9C86"/>
                    </a:solidFill>
                  </a:tcPr>
                </a:tc>
                <a:tc>
                  <a:txBody>
                    <a:bodyPr/>
                    <a:lstStyle/>
                    <a:p>
                      <a:pPr algn="ctr"/>
                      <a:r>
                        <a:rPr sz="1700" b="1">
                          <a:solidFill>
                            <a:srgbClr val="FFFFFF"/>
                          </a:solidFill>
                          <a:latin typeface="Segoe UI"/>
                        </a:rPr>
                        <a:t>Elderly</a:t>
                      </a:r>
                    </a:p>
                  </a:txBody>
                  <a:tcPr marL="91440" marR="73152" marT="27432" marB="27432" anchor="ctr">
                    <a:solidFill>
                      <a:srgbClr val="D0402C"/>
                    </a:solidFill>
                  </a:tcPr>
                </a:tc>
                <a:tc>
                  <a:txBody>
                    <a:bodyPr/>
                    <a:lstStyle/>
                    <a:p>
                      <a:pPr algn="ctr"/>
                      <a:r>
                        <a:rPr sz="1700" b="1">
                          <a:solidFill>
                            <a:srgbClr val="FFFFFF"/>
                          </a:solidFill>
                          <a:latin typeface="Segoe UI"/>
                        </a:rPr>
                        <a:t>aMCI</a:t>
                      </a:r>
                    </a:p>
                  </a:txBody>
                  <a:tcPr marL="91440" marR="73152" marT="27432" marB="27432" anchor="ctr">
                    <a:solidFill>
                      <a:srgbClr val="2F7FAE"/>
                    </a:solidFill>
                  </a:tcPr>
                </a:tc>
                <a:tc>
                  <a:txBody>
                    <a:bodyPr/>
                    <a:lstStyle/>
                    <a:p>
                      <a:pPr algn="ctr"/>
                      <a:r>
                        <a:rPr sz="1700" b="1">
                          <a:solidFill>
                            <a:srgbClr val="FFFFFF"/>
                          </a:solidFill>
                          <a:latin typeface="Segoe UI"/>
                        </a:rPr>
                        <a:t>omnibus p</a:t>
                      </a:r>
                    </a:p>
                  </a:txBody>
                  <a:tcPr marL="91440" marR="73152" marT="27432" marB="27432" anchor="ctr">
                    <a:solidFill>
                      <a:srgbClr val="1F3A5F"/>
                    </a:solidFill>
                  </a:tcPr>
                </a:tc>
              </a:tr>
              <a:tr h="457200">
                <a:tc>
                  <a:txBody>
                    <a:bodyPr/>
                    <a:lstStyle/>
                    <a:p>
                      <a:pPr algn="l"/>
                      <a:r>
                        <a:rPr sz="1700" b="0">
                          <a:solidFill>
                            <a:srgbClr val="1A1A1A"/>
                          </a:solidFill>
                          <a:latin typeface="Segoe UI"/>
                        </a:rPr>
                        <a:t>N2 bouts (n)</a:t>
                      </a:r>
                    </a:p>
                  </a:txBody>
                  <a:tcPr marL="91440" marR="73152" marT="27432" marB="27432" anchor="ctr">
                    <a:solidFill>
                      <a:srgbClr val="FFFFFF"/>
                    </a:solidFill>
                  </a:tcPr>
                </a:tc>
                <a:tc>
                  <a:txBody>
                    <a:bodyPr/>
                    <a:lstStyle/>
                    <a:p>
                      <a:pPr algn="ctr"/>
                      <a:r>
                        <a:rPr sz="1700" b="0">
                          <a:solidFill>
                            <a:srgbClr val="1A1A1A"/>
                          </a:solidFill>
                          <a:latin typeface="Segoe UI"/>
                        </a:rPr>
                        <a:t>7.7 ± 3.8</a:t>
                      </a:r>
                    </a:p>
                  </a:txBody>
                  <a:tcPr marL="91440" marR="73152" marT="27432" marB="27432" anchor="ctr">
                    <a:solidFill>
                      <a:srgbClr val="FFFFFF"/>
                    </a:solidFill>
                  </a:tcPr>
                </a:tc>
                <a:tc>
                  <a:txBody>
                    <a:bodyPr/>
                    <a:lstStyle/>
                    <a:p>
                      <a:pPr algn="ctr"/>
                      <a:r>
                        <a:rPr sz="1700" b="0">
                          <a:solidFill>
                            <a:srgbClr val="1A1A1A"/>
                          </a:solidFill>
                          <a:latin typeface="Segoe UI"/>
                        </a:rPr>
                        <a:t>11.0 ± 4.2</a:t>
                      </a:r>
                    </a:p>
                  </a:txBody>
                  <a:tcPr marL="91440" marR="73152" marT="27432" marB="27432" anchor="ctr">
                    <a:solidFill>
                      <a:srgbClr val="FFFFFF"/>
                    </a:solidFill>
                  </a:tcPr>
                </a:tc>
                <a:tc>
                  <a:txBody>
                    <a:bodyPr/>
                    <a:lstStyle/>
                    <a:p>
                      <a:pPr algn="ctr"/>
                      <a:r>
                        <a:rPr sz="1700" b="0">
                          <a:solidFill>
                            <a:srgbClr val="1A1A1A"/>
                          </a:solidFill>
                          <a:latin typeface="Segoe UI"/>
                        </a:rPr>
                        <a:t>10.8 ± 4.7</a:t>
                      </a:r>
                    </a:p>
                  </a:txBody>
                  <a:tcPr marL="91440" marR="73152" marT="27432" marB="27432" anchor="ctr">
                    <a:solidFill>
                      <a:srgbClr val="FFFFFF"/>
                    </a:solidFill>
                  </a:tcPr>
                </a:tc>
                <a:tc>
                  <a:txBody>
                    <a:bodyPr/>
                    <a:lstStyle/>
                    <a:p>
                      <a:pPr algn="ctr"/>
                      <a:r>
                        <a:rPr sz="1700" b="0">
                          <a:solidFill>
                            <a:srgbClr val="1A1A1A"/>
                          </a:solidFill>
                          <a:latin typeface="Segoe UI"/>
                        </a:rPr>
                        <a:t>0.0013</a:t>
                      </a:r>
                    </a:p>
                  </a:txBody>
                  <a:tcPr marL="91440" marR="73152" marT="27432" marB="27432" anchor="ctr">
                    <a:solidFill>
                      <a:srgbClr val="FFFFFF"/>
                    </a:solidFill>
                  </a:tcPr>
                </a:tc>
              </a:tr>
              <a:tr h="457200">
                <a:tc>
                  <a:txBody>
                    <a:bodyPr/>
                    <a:lstStyle/>
                    <a:p>
                      <a:pPr algn="l"/>
                      <a:r>
                        <a:rPr sz="1700" b="0">
                          <a:solidFill>
                            <a:srgbClr val="1A1A1A"/>
                          </a:solidFill>
                          <a:latin typeface="Segoe UI"/>
                        </a:rPr>
                        <a:t>Mean bout length (s)</a:t>
                      </a:r>
                    </a:p>
                  </a:txBody>
                  <a:tcPr marL="91440" marR="73152" marT="27432" marB="27432" anchor="ctr">
                    <a:solidFill>
                      <a:srgbClr val="F2F5F8"/>
                    </a:solidFill>
                  </a:tcPr>
                </a:tc>
                <a:tc>
                  <a:txBody>
                    <a:bodyPr/>
                    <a:lstStyle/>
                    <a:p>
                      <a:pPr algn="ctr"/>
                      <a:r>
                        <a:rPr sz="1700" b="0">
                          <a:solidFill>
                            <a:srgbClr val="1A1A1A"/>
                          </a:solidFill>
                          <a:latin typeface="Segoe UI"/>
                        </a:rPr>
                        <a:t>629 ± 175</a:t>
                      </a:r>
                    </a:p>
                  </a:txBody>
                  <a:tcPr marL="91440" marR="73152" marT="27432" marB="27432" anchor="ctr">
                    <a:solidFill>
                      <a:srgbClr val="F2F5F8"/>
                    </a:solidFill>
                  </a:tcPr>
                </a:tc>
                <a:tc>
                  <a:txBody>
                    <a:bodyPr/>
                    <a:lstStyle/>
                    <a:p>
                      <a:pPr algn="ctr"/>
                      <a:r>
                        <a:rPr sz="1700" b="0">
                          <a:solidFill>
                            <a:srgbClr val="1A1A1A"/>
                          </a:solidFill>
                          <a:latin typeface="Segoe UI"/>
                        </a:rPr>
                        <a:t>561 ± 109</a:t>
                      </a:r>
                    </a:p>
                  </a:txBody>
                  <a:tcPr marL="91440" marR="73152" marT="27432" marB="27432" anchor="ctr">
                    <a:solidFill>
                      <a:srgbClr val="F2F5F8"/>
                    </a:solidFill>
                  </a:tcPr>
                </a:tc>
                <a:tc>
                  <a:txBody>
                    <a:bodyPr/>
                    <a:lstStyle/>
                    <a:p>
                      <a:pPr algn="ctr"/>
                      <a:r>
                        <a:rPr sz="1700" b="0">
                          <a:solidFill>
                            <a:srgbClr val="1A1A1A"/>
                          </a:solidFill>
                          <a:latin typeface="Segoe UI"/>
                        </a:rPr>
                        <a:t>501 ± 77</a:t>
                      </a:r>
                    </a:p>
                  </a:txBody>
                  <a:tcPr marL="91440" marR="73152" marT="27432" marB="27432" anchor="ctr">
                    <a:solidFill>
                      <a:srgbClr val="F2F5F8"/>
                    </a:solidFill>
                  </a:tcPr>
                </a:tc>
                <a:tc>
                  <a:txBody>
                    <a:bodyPr/>
                    <a:lstStyle/>
                    <a:p>
                      <a:pPr algn="ctr"/>
                      <a:r>
                        <a:rPr sz="1700" b="0">
                          <a:solidFill>
                            <a:srgbClr val="1A1A1A"/>
                          </a:solidFill>
                          <a:latin typeface="Segoe UI"/>
                        </a:rPr>
                        <a:t>0.0022</a:t>
                      </a:r>
                    </a:p>
                  </a:txBody>
                  <a:tcPr marL="91440" marR="73152" marT="27432" marB="27432" anchor="ctr">
                    <a:solidFill>
                      <a:srgbClr val="F2F5F8"/>
                    </a:solidFill>
                  </a:tcPr>
                </a:tc>
              </a:tr>
              <a:tr h="457200">
                <a:tc>
                  <a:txBody>
                    <a:bodyPr/>
                    <a:lstStyle/>
                    <a:p>
                      <a:pPr algn="l"/>
                      <a:r>
                        <a:rPr sz="1700" b="0">
                          <a:solidFill>
                            <a:srgbClr val="1A1A1A"/>
                          </a:solidFill>
                          <a:latin typeface="Segoe UI"/>
                        </a:rPr>
                        <a:t>Analyzed N2 (min)</a:t>
                      </a:r>
                    </a:p>
                  </a:txBody>
                  <a:tcPr marL="91440" marR="73152" marT="27432" marB="27432" anchor="ctr">
                    <a:solidFill>
                      <a:srgbClr val="FFFFFF"/>
                    </a:solidFill>
                  </a:tcPr>
                </a:tc>
                <a:tc>
                  <a:txBody>
                    <a:bodyPr/>
                    <a:lstStyle/>
                    <a:p>
                      <a:pPr algn="ctr"/>
                      <a:r>
                        <a:rPr sz="1700" b="0">
                          <a:solidFill>
                            <a:srgbClr val="1A1A1A"/>
                          </a:solidFill>
                          <a:latin typeface="Segoe UI"/>
                        </a:rPr>
                        <a:t>80.7 ± 44.2</a:t>
                      </a:r>
                    </a:p>
                  </a:txBody>
                  <a:tcPr marL="91440" marR="73152" marT="27432" marB="27432" anchor="ctr">
                    <a:solidFill>
                      <a:srgbClr val="FFFFFF"/>
                    </a:solidFill>
                  </a:tcPr>
                </a:tc>
                <a:tc>
                  <a:txBody>
                    <a:bodyPr/>
                    <a:lstStyle/>
                    <a:p>
                      <a:pPr algn="ctr"/>
                      <a:r>
                        <a:rPr sz="1700" b="0">
                          <a:solidFill>
                            <a:srgbClr val="1A1A1A"/>
                          </a:solidFill>
                          <a:latin typeface="Segoe UI"/>
                        </a:rPr>
                        <a:t>106.0 ± 50.1</a:t>
                      </a:r>
                    </a:p>
                  </a:txBody>
                  <a:tcPr marL="91440" marR="73152" marT="27432" marB="27432" anchor="ctr">
                    <a:solidFill>
                      <a:srgbClr val="FFFFFF"/>
                    </a:solidFill>
                  </a:tcPr>
                </a:tc>
                <a:tc>
                  <a:txBody>
                    <a:bodyPr/>
                    <a:lstStyle/>
                    <a:p>
                      <a:pPr algn="ctr"/>
                      <a:r>
                        <a:rPr sz="1700" b="0">
                          <a:solidFill>
                            <a:srgbClr val="1A1A1A"/>
                          </a:solidFill>
                          <a:latin typeface="Segoe UI"/>
                        </a:rPr>
                        <a:t>90.8 ± 39.9</a:t>
                      </a:r>
                    </a:p>
                  </a:txBody>
                  <a:tcPr marL="91440" marR="73152" marT="27432" marB="27432" anchor="ctr">
                    <a:solidFill>
                      <a:srgbClr val="FFFFFF"/>
                    </a:solidFill>
                  </a:tcPr>
                </a:tc>
                <a:tc>
                  <a:txBody>
                    <a:bodyPr/>
                    <a:lstStyle/>
                    <a:p>
                      <a:pPr algn="ctr"/>
                      <a:r>
                        <a:rPr sz="1700" b="0">
                          <a:solidFill>
                            <a:srgbClr val="1A1A1A"/>
                          </a:solidFill>
                          <a:latin typeface="Segoe UI"/>
                        </a:rPr>
                        <a:t>0.081</a:t>
                      </a:r>
                    </a:p>
                  </a:txBody>
                  <a:tcPr marL="91440" marR="73152" marT="27432" marB="27432" anchor="ctr">
                    <a:solidFill>
                      <a:srgbClr val="FFFFFF"/>
                    </a:solidFill>
                  </a:tcPr>
                </a:tc>
              </a:tr>
              <a:tr h="457200">
                <a:tc>
                  <a:txBody>
                    <a:bodyPr/>
                    <a:lstStyle/>
                    <a:p>
                      <a:pPr algn="l"/>
                      <a:r>
                        <a:rPr sz="1700" b="0">
                          <a:solidFill>
                            <a:srgbClr val="1A1A1A"/>
                          </a:solidFill>
                          <a:latin typeface="Segoe UI"/>
                        </a:rPr>
                        <a:t>Share of N2 kept (%)</a:t>
                      </a:r>
                    </a:p>
                  </a:txBody>
                  <a:tcPr marL="91440" marR="73152" marT="27432" marB="27432" anchor="ctr">
                    <a:solidFill>
                      <a:srgbClr val="F2F5F8"/>
                    </a:solidFill>
                  </a:tcPr>
                </a:tc>
                <a:tc>
                  <a:txBody>
                    <a:bodyPr/>
                    <a:lstStyle/>
                    <a:p>
                      <a:pPr algn="ctr"/>
                      <a:r>
                        <a:rPr sz="1700" b="0">
                          <a:solidFill>
                            <a:srgbClr val="1A1A1A"/>
                          </a:solidFill>
                          <a:latin typeface="Segoe UI"/>
                        </a:rPr>
                        <a:t>51.9 ± 15.9</a:t>
                      </a:r>
                    </a:p>
                  </a:txBody>
                  <a:tcPr marL="91440" marR="73152" marT="27432" marB="27432" anchor="ctr">
                    <a:solidFill>
                      <a:srgbClr val="F2F5F8"/>
                    </a:solidFill>
                  </a:tcPr>
                </a:tc>
                <a:tc>
                  <a:txBody>
                    <a:bodyPr/>
                    <a:lstStyle/>
                    <a:p>
                      <a:pPr algn="ctr"/>
                      <a:r>
                        <a:rPr sz="1700" b="0">
                          <a:solidFill>
                            <a:srgbClr val="1A1A1A"/>
                          </a:solidFill>
                          <a:latin typeface="Segoe UI"/>
                        </a:rPr>
                        <a:t>52.3 ± 17.4</a:t>
                      </a:r>
                    </a:p>
                  </a:txBody>
                  <a:tcPr marL="91440" marR="73152" marT="27432" marB="27432" anchor="ctr">
                    <a:solidFill>
                      <a:srgbClr val="F2F5F8"/>
                    </a:solidFill>
                  </a:tcPr>
                </a:tc>
                <a:tc>
                  <a:txBody>
                    <a:bodyPr/>
                    <a:lstStyle/>
                    <a:p>
                      <a:pPr algn="ctr"/>
                      <a:r>
                        <a:rPr sz="1700" b="0">
                          <a:solidFill>
                            <a:srgbClr val="1A1A1A"/>
                          </a:solidFill>
                          <a:latin typeface="Segoe UI"/>
                        </a:rPr>
                        <a:t>51.5 ± 15.5</a:t>
                      </a:r>
                    </a:p>
                  </a:txBody>
                  <a:tcPr marL="91440" marR="73152" marT="27432" marB="27432" anchor="ctr">
                    <a:solidFill>
                      <a:srgbClr val="F2F5F8"/>
                    </a:solidFill>
                  </a:tcPr>
                </a:tc>
                <a:tc>
                  <a:txBody>
                    <a:bodyPr/>
                    <a:lstStyle/>
                    <a:p>
                      <a:pPr algn="ctr"/>
                      <a:r>
                        <a:rPr sz="1700" b="0">
                          <a:solidFill>
                            <a:srgbClr val="1A1A1A"/>
                          </a:solidFill>
                          <a:latin typeface="Segoe UI"/>
                        </a:rPr>
                        <a:t>0.98</a:t>
                      </a:r>
                    </a:p>
                  </a:txBody>
                  <a:tcPr marL="91440" marR="73152" marT="27432" marB="27432" anchor="ctr">
                    <a:solidFill>
                      <a:srgbClr val="F2F5F8"/>
                    </a:solidFill>
                  </a:tcPr>
                </a:tc>
              </a:tr>
            </a:tbl>
          </a:graphicData>
        </a:graphic>
      </p:graphicFrame>
      <p:sp>
        <p:nvSpPr>
          <p:cNvPr id="5" name="TextBox 4"/>
          <p:cNvSpPr txBox="1"/>
          <p:nvPr/>
        </p:nvSpPr>
        <p:spPr>
          <a:xfrm>
            <a:off x="777240" y="3886200"/>
            <a:ext cx="10698480" cy="2423160"/>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The share of each participant's N2 that survived cleaning is identical across groups</a:t>
            </a:r>
          </a:p>
          <a:p>
            <a:pPr algn="l" marL="274320" indent="-274320">
              <a:lnSpc>
                <a:spcPct val="102000"/>
              </a:lnSpc>
              <a:spcAft>
                <a:spcPts val="1300"/>
              </a:spcAft>
              <a:buFont typeface="Arial"/>
              <a:buChar char="▪"/>
            </a:pPr>
            <a:r>
              <a:rPr sz="1600" b="0" i="0">
                <a:solidFill>
                  <a:srgbClr val="1A1A1A"/>
                </a:solidFill>
                <a:latin typeface="Segoe UI"/>
              </a:rPr>
              <a:t>The imbalance that does exist runs opposite to the effects: young adults contributed the least analyzed N2, yet show the strongest hotspot</a:t>
            </a:r>
          </a:p>
          <a:p>
            <a:pPr algn="l" marL="274320" indent="-274320">
              <a:lnSpc>
                <a:spcPct val="102000"/>
              </a:lnSpc>
              <a:spcAft>
                <a:spcPts val="1300"/>
              </a:spcAft>
              <a:buFont typeface="Arial"/>
              <a:buChar char="▪"/>
            </a:pPr>
            <a:r>
              <a:rPr sz="1600" b="0" i="0">
                <a:solidFill>
                  <a:srgbClr val="1A1A1A"/>
                </a:solidFill>
                <a:latin typeface="Segoe UI"/>
              </a:rPr>
              <a:t>With analyzed N2 duration as a covariate, the peak-frequency effect holds (p = 0.0034) and the covariate explains none of its variance (p = 0.94)</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ISFS is present in nearly every channel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 valid fit in 80.8 % of channels overall: 74.5 % in young adults, 85.6 % in elderly, 82.0 % in aMCI. Two example channels per group.</a:t>
            </a:r>
          </a:p>
        </p:txBody>
      </p:sp>
      <p:pic>
        <p:nvPicPr>
          <p:cNvPr id="5" name="Picture 4" descr="s3_example_spectra_V11.png"/>
          <p:cNvPicPr>
            <a:picLocks noChangeAspect="1"/>
          </p:cNvPicPr>
          <p:nvPr/>
        </p:nvPicPr>
        <p:blipFill>
          <a:blip r:embed="rId2"/>
          <a:stretch>
            <a:fillRect/>
          </a:stretch>
        </p:blipFill>
        <p:spPr>
          <a:xfrm>
            <a:off x="4137659" y="2084831"/>
            <a:ext cx="3931920" cy="393192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rhythm runs faster in both older groups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Young 0.0199, Elderly 0.0226, aMCI 0.0232 Hz. One-way ANOVA p = 0.0026, eta squared 0.111.</a:t>
            </a:r>
          </a:p>
        </p:txBody>
      </p:sp>
      <p:sp>
        <p:nvSpPr>
          <p:cNvPr id="5" name="TextBox 4"/>
          <p:cNvSpPr txBox="1"/>
          <p:nvPr/>
        </p:nvSpPr>
        <p:spPr>
          <a:xfrm>
            <a:off x="685800" y="1874519"/>
            <a:ext cx="5120640" cy="43434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Young &lt; Elderly = aMCI</a:t>
            </a:r>
          </a:p>
          <a:p>
            <a:pPr algn="l" marL="274320" indent="-274320">
              <a:lnSpc>
                <a:spcPct val="102000"/>
              </a:lnSpc>
              <a:spcAft>
                <a:spcPts val="1300"/>
              </a:spcAft>
              <a:buFont typeface="Arial"/>
              <a:buChar char="▪"/>
            </a:pPr>
            <a:r>
              <a:rPr sz="1800" b="0" i="0">
                <a:solidFill>
                  <a:srgbClr val="1A1A1A"/>
                </a:solidFill>
                <a:latin typeface="Segoe UI"/>
              </a:rPr>
              <a:t>Post-hoc: young vs elderly p = 0.013, young vs aMCI p = 0.005</a:t>
            </a:r>
          </a:p>
          <a:p>
            <a:pPr algn="l" marL="274320" indent="-274320">
              <a:lnSpc>
                <a:spcPct val="102000"/>
              </a:lnSpc>
              <a:spcAft>
                <a:spcPts val="1300"/>
              </a:spcAft>
              <a:buFont typeface="Arial"/>
              <a:buChar char="▪"/>
            </a:pPr>
            <a:r>
              <a:rPr sz="1800" b="0" i="0">
                <a:solidFill>
                  <a:srgbClr val="1A1A1A"/>
                </a:solidFill>
                <a:latin typeface="Segoe UI"/>
              </a:rPr>
              <a:t>Elderly vs aMCI: p = 0.86</a:t>
            </a:r>
          </a:p>
          <a:p>
            <a:pPr algn="l" marL="274320" indent="-274320">
              <a:lnSpc>
                <a:spcPct val="102000"/>
              </a:lnSpc>
              <a:spcAft>
                <a:spcPts val="1300"/>
              </a:spcAft>
              <a:buFont typeface="Arial"/>
              <a:buChar char="▪"/>
            </a:pPr>
            <a:r>
              <a:rPr sz="1800" b="0" i="0">
                <a:solidFill>
                  <a:srgbClr val="1A1A1A"/>
                </a:solidFill>
                <a:latin typeface="Segoe UI"/>
              </a:rPr>
              <a:t>Across all 104 participants the peak sits at 0.0219 Hz on average (range 0.0095 to 0.0314), where the literature puts it</a:t>
            </a:r>
          </a:p>
          <a:p>
            <a:pPr algn="l" marL="274320" indent="-274320">
              <a:lnSpc>
                <a:spcPct val="102000"/>
              </a:lnSpc>
              <a:spcAft>
                <a:spcPts val="1300"/>
              </a:spcAft>
              <a:buFont typeface="Arial"/>
              <a:buChar char="▪"/>
            </a:pPr>
            <a:r>
              <a:rPr sz="1800" b="0" i="0">
                <a:solidFill>
                  <a:srgbClr val="1A1A1A"/>
                </a:solidFill>
                <a:latin typeface="Segoe UI"/>
              </a:rPr>
              <a:t>Each dot is one participant's mean over the fitted electrodes</a:t>
            </a:r>
          </a:p>
        </p:txBody>
      </p:sp>
      <p:pic>
        <p:nvPicPr>
          <p:cNvPr id="6" name="Picture 5" descr="group_comparison_violin_peak_frequency.png"/>
          <p:cNvPicPr>
            <a:picLocks noChangeAspect="1"/>
          </p:cNvPicPr>
          <p:nvPr/>
        </p:nvPicPr>
        <p:blipFill>
          <a:blip r:embed="rId2"/>
          <a:stretch>
            <a:fillRect/>
          </a:stretch>
        </p:blipFill>
        <p:spPr>
          <a:xfrm>
            <a:off x="6961780" y="1325880"/>
            <a:ext cx="4181559"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Bandwidth: no group effect, and it tracks analyzed N2</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0.0236, 0.0281, 0.0276 Hz, ANOVA p = 0.061, not significant. Bandwidth correlates with how much N2 sleep a participant contributed (r = 0.386), and with duration as a covariate the group difference weakens to p = 0.206.</a:t>
            </a:r>
          </a:p>
        </p:txBody>
      </p:sp>
      <p:pic>
        <p:nvPicPr>
          <p:cNvPr id="5" name="Picture 4" descr="group_comparison_violin_bandwidth.png"/>
          <p:cNvPicPr>
            <a:picLocks noChangeAspect="1"/>
          </p:cNvPicPr>
          <p:nvPr/>
        </p:nvPicPr>
        <p:blipFill>
          <a:blip r:embed="rId2"/>
          <a:stretch>
            <a:fillRect/>
          </a:stretch>
        </p:blipFill>
        <p:spPr>
          <a:xfrm>
            <a:off x="1578669" y="2286000"/>
            <a:ext cx="3426340" cy="3931920"/>
          </a:xfrm>
          <a:prstGeom prst="rect">
            <a:avLst/>
          </a:prstGeom>
        </p:spPr>
      </p:pic>
      <p:pic>
        <p:nvPicPr>
          <p:cNvPr id="6" name="Picture 5" descr="bandwidth_vs_n2_duration.png"/>
          <p:cNvPicPr>
            <a:picLocks noChangeAspect="1"/>
          </p:cNvPicPr>
          <p:nvPr/>
        </p:nvPicPr>
        <p:blipFill>
          <a:blip r:embed="rId3"/>
          <a:stretch>
            <a:fillRect/>
          </a:stretch>
        </p:blipFill>
        <p:spPr>
          <a:xfrm>
            <a:off x="6172200" y="2382115"/>
            <a:ext cx="5577840" cy="3739688"/>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Overall strength, averaged over the scalp, is unchanged</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AUC 6.46, 7.31, 7.48. Kruskal-Wallis p = 0.38.</a:t>
            </a:r>
          </a:p>
        </p:txBody>
      </p:sp>
      <p:sp>
        <p:nvSpPr>
          <p:cNvPr id="5" name="TextBox 4"/>
          <p:cNvSpPr txBox="1"/>
          <p:nvPr/>
        </p:nvSpPr>
        <p:spPr>
          <a:xfrm>
            <a:off x="685800" y="1874519"/>
            <a:ext cx="5120640" cy="43434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No group difference in ISFS strength when every channel is averaged together</a:t>
            </a:r>
          </a:p>
          <a:p>
            <a:pPr algn="l" marL="274320" indent="-274320">
              <a:lnSpc>
                <a:spcPct val="102000"/>
              </a:lnSpc>
              <a:spcAft>
                <a:spcPts val="1300"/>
              </a:spcAft>
              <a:buFont typeface="Arial"/>
              <a:buChar char="▪"/>
            </a:pPr>
            <a:r>
              <a:rPr sz="1800" b="0" i="0">
                <a:solidFill>
                  <a:srgbClr val="1A1A1A"/>
                </a:solidFill>
                <a:latin typeface="Segoe UI"/>
              </a:rPr>
              <a:t>Tested non-parametrically because AUC failed the normality check</a:t>
            </a:r>
          </a:p>
          <a:p>
            <a:pPr algn="l" marL="274320" indent="-274320">
              <a:lnSpc>
                <a:spcPct val="102000"/>
              </a:lnSpc>
              <a:spcAft>
                <a:spcPts val="1300"/>
              </a:spcAft>
              <a:buFont typeface="Arial"/>
              <a:buChar char="▪"/>
            </a:pPr>
            <a:r>
              <a:rPr sz="1800" b="0" i="0">
                <a:solidFill>
                  <a:srgbClr val="1A1A1A"/>
                </a:solidFill>
                <a:latin typeface="Segoe UI"/>
              </a:rPr>
              <a:t>Averaging over the whole scalp can hide a regional effect, which is exactly what happens next</a:t>
            </a:r>
          </a:p>
        </p:txBody>
      </p:sp>
      <p:pic>
        <p:nvPicPr>
          <p:cNvPr id="6" name="Picture 5" descr="group_comparison_violin_auc.png"/>
          <p:cNvPicPr>
            <a:picLocks noChangeAspect="1"/>
          </p:cNvPicPr>
          <p:nvPr/>
        </p:nvPicPr>
        <p:blipFill>
          <a:blip r:embed="rId2"/>
          <a:stretch>
            <a:fillRect/>
          </a:stretch>
        </p:blipFill>
        <p:spPr>
          <a:xfrm>
            <a:off x="6960898" y="1325879"/>
            <a:ext cx="4183322"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Where the strength sits: the young-adult hotspot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Young adults concentrate ISFS strength over central-parietal electrodes. In both older groups the hotspot is less focal and more diffuse.</a:t>
            </a:r>
          </a:p>
        </p:txBody>
      </p:sp>
      <p:pic>
        <p:nvPicPr>
          <p:cNvPr id="5" name="Picture 4" descr="three_group_topo_auc_raw.png"/>
          <p:cNvPicPr>
            <a:picLocks noChangeAspect="1"/>
          </p:cNvPicPr>
          <p:nvPr/>
        </p:nvPicPr>
        <p:blipFill>
          <a:blip r:embed="rId2"/>
          <a:stretch>
            <a:fillRect/>
          </a:stretch>
        </p:blipFill>
        <p:spPr>
          <a:xfrm>
            <a:off x="2371449" y="2084832"/>
            <a:ext cx="7464341" cy="356615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One significant central-parietal cluster</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Cluster-based permutation test: p = 0.023, 9 electrodes, lower AUC in both older groups. Yellow rings mark significant post-hoc electrodes, green dots the pre-defined ROI.</a:t>
            </a:r>
          </a:p>
        </p:txBody>
      </p:sp>
      <p:pic>
        <p:nvPicPr>
          <p:cNvPr id="5" name="Picture 4" descr="three_group_topo_auc.png"/>
          <p:cNvPicPr>
            <a:picLocks noChangeAspect="1"/>
          </p:cNvPicPr>
          <p:nvPr/>
        </p:nvPicPr>
        <p:blipFill>
          <a:blip r:embed="rId2"/>
          <a:stretch>
            <a:fillRect/>
          </a:stretch>
        </p:blipFill>
        <p:spPr>
          <a:xfrm>
            <a:off x="2364555" y="2084831"/>
            <a:ext cx="7478129" cy="35661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Averaging over the whole ROI dilutes the effect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Same order as the topography (1.099, 1.040, 1.012) but the three-group comparison is not significant: ANOVA p = 0.143.</a:t>
            </a:r>
          </a:p>
        </p:txBody>
      </p:sp>
      <p:sp>
        <p:nvSpPr>
          <p:cNvPr id="5" name="TextBox 4"/>
          <p:cNvSpPr txBox="1"/>
          <p:nvPr/>
        </p:nvSpPr>
        <p:spPr>
          <a:xfrm>
            <a:off x="685800" y="2103120"/>
            <a:ext cx="5120640" cy="41148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The cluster is 9 electrodes; the ROI is 36</a:t>
            </a:r>
          </a:p>
          <a:p>
            <a:pPr algn="l" marL="274320" indent="-274320">
              <a:lnSpc>
                <a:spcPct val="102000"/>
              </a:lnSpc>
              <a:spcAft>
                <a:spcPts val="1300"/>
              </a:spcAft>
              <a:buFont typeface="Arial"/>
              <a:buChar char="▪"/>
            </a:pPr>
            <a:r>
              <a:rPr sz="1800" b="0" i="0">
                <a:solidFill>
                  <a:srgbClr val="1A1A1A"/>
                </a:solidFill>
                <a:latin typeface="Segoe UI"/>
              </a:rPr>
              <a:t>Averaging over the whole region mixes the affected electrodes with unaffected neighbours</a:t>
            </a:r>
          </a:p>
          <a:p>
            <a:pPr algn="l" marL="274320" indent="-274320">
              <a:lnSpc>
                <a:spcPct val="102000"/>
              </a:lnSpc>
              <a:spcAft>
                <a:spcPts val="1300"/>
              </a:spcAft>
              <a:buFont typeface="Arial"/>
              <a:buChar char="▪"/>
            </a:pPr>
            <a:r>
              <a:rPr sz="1800" b="0" i="0">
                <a:solidFill>
                  <a:srgbClr val="1A1A1A"/>
                </a:solidFill>
                <a:latin typeface="Segoe UI"/>
              </a:rPr>
              <a:t>This is a null, and it is reported as one; a larger sample may resolve whether the ROI effect is genuine</a:t>
            </a:r>
          </a:p>
        </p:txBody>
      </p:sp>
      <p:pic>
        <p:nvPicPr>
          <p:cNvPr id="6" name="Picture 5" descr="group_comparison_violin_extended_ROI_normalized_auc.png"/>
          <p:cNvPicPr>
            <a:picLocks noChangeAspect="1"/>
          </p:cNvPicPr>
          <p:nvPr/>
        </p:nvPicPr>
        <p:blipFill>
          <a:blip r:embed="rId2"/>
          <a:stretch>
            <a:fillRect/>
          </a:stretch>
        </p:blipFill>
        <p:spPr>
          <a:xfrm>
            <a:off x="6961910" y="1325879"/>
            <a:ext cx="4181298"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temporal changes are diffuse, not regional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Neither peak frequency (A) nor bandwidth (B) produced a significant cluster anywhere on the scalp.</a:t>
            </a:r>
          </a:p>
        </p:txBody>
      </p:sp>
      <p:pic>
        <p:nvPicPr>
          <p:cNvPr id="5" name="Picture 4" descr="s1_topo_composite_V11.png"/>
          <p:cNvPicPr>
            <a:picLocks noChangeAspect="1"/>
          </p:cNvPicPr>
          <p:nvPr/>
        </p:nvPicPr>
        <p:blipFill>
          <a:blip r:embed="rId2"/>
          <a:stretch>
            <a:fillRect/>
          </a:stretch>
        </p:blipFill>
        <p:spPr>
          <a:xfrm>
            <a:off x="3788273" y="1874519"/>
            <a:ext cx="4630693" cy="40233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No association with cognitive score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Pooled elderly and aMCI, n = 44: no ISFS measure tracks the MoCA (all |r| &lt;= 0.15, all p &gt;= 0.34, Pearson and Spearman). Elderly in red, aMCI in blue.</a:t>
            </a:r>
          </a:p>
        </p:txBody>
      </p:sp>
      <p:pic>
        <p:nvPicPr>
          <p:cNvPr id="5" name="Picture 4" descr="moca_panel_peak_frequency.png"/>
          <p:cNvPicPr>
            <a:picLocks noChangeAspect="1"/>
          </p:cNvPicPr>
          <p:nvPr/>
        </p:nvPicPr>
        <p:blipFill>
          <a:blip r:embed="rId2"/>
          <a:stretch>
            <a:fillRect/>
          </a:stretch>
        </p:blipFill>
        <p:spPr>
          <a:xfrm>
            <a:off x="918578" y="1965960"/>
            <a:ext cx="4746523" cy="4251960"/>
          </a:xfrm>
          <a:prstGeom prst="rect">
            <a:avLst/>
          </a:prstGeom>
        </p:spPr>
      </p:pic>
      <p:pic>
        <p:nvPicPr>
          <p:cNvPr id="6" name="Picture 5" descr="moca_panel_roi_auc.png"/>
          <p:cNvPicPr>
            <a:picLocks noChangeAspect="1"/>
          </p:cNvPicPr>
          <p:nvPr/>
        </p:nvPicPr>
        <p:blipFill>
          <a:blip r:embed="rId3"/>
          <a:stretch>
            <a:fillRect/>
          </a:stretch>
        </p:blipFill>
        <p:spPr>
          <a:xfrm>
            <a:off x="6588044" y="1965960"/>
            <a:ext cx="4746150" cy="425196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Discussion</a:t>
            </a:r>
          </a:p>
          <a:p>
            <a:pPr algn="l">
              <a:lnSpc>
                <a:spcPct val="105000"/>
              </a:lnSpc>
              <a:spcAft>
                <a:spcPts val="0"/>
              </a:spcAft>
            </a:pPr>
            <a:r>
              <a:rPr sz="1900" b="0" i="0">
                <a:solidFill>
                  <a:srgbClr val="C9D5E4"/>
                </a:solidFill>
                <a:latin typeface="Segoe UI"/>
              </a:rPr>
              <a:t>What changed, what did not, and what would explain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What changed, and what did not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Bandwidth is not part of the story: what difference there was tracked how much N2 sleep we analyzed.</a:t>
            </a:r>
          </a:p>
        </p:txBody>
      </p:sp>
      <p:sp>
        <p:nvSpPr>
          <p:cNvPr id="5" name="Rounded Rectangle 4"/>
          <p:cNvSpPr/>
          <p:nvPr/>
        </p:nvSpPr>
        <p:spPr>
          <a:xfrm>
            <a:off x="56692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Faster</a:t>
            </a:r>
          </a:p>
          <a:p>
            <a:pPr algn="l">
              <a:lnSpc>
                <a:spcPct val="105000"/>
              </a:lnSpc>
              <a:spcAft>
                <a:spcPts val="0"/>
              </a:spcAft>
            </a:pPr>
            <a:r>
              <a:rPr sz="1600" b="0" i="0">
                <a:solidFill>
                  <a:srgbClr val="1A1A1A"/>
                </a:solidFill>
                <a:latin typeface="Segoe UI"/>
              </a:rPr>
              <a:t>Peak frequency higher in both older groups (p = 0.0026), everywhere on the scalp</a:t>
            </a:r>
          </a:p>
        </p:txBody>
      </p:sp>
      <p:sp>
        <p:nvSpPr>
          <p:cNvPr id="7" name="Rounded Rectangle 6"/>
          <p:cNvSpPr/>
          <p:nvPr/>
        </p:nvSpPr>
        <p:spPr>
          <a:xfrm>
            <a:off x="436168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028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Less focal</a:t>
            </a:r>
          </a:p>
          <a:p>
            <a:pPr algn="l">
              <a:lnSpc>
                <a:spcPct val="105000"/>
              </a:lnSpc>
              <a:spcAft>
                <a:spcPts val="0"/>
              </a:spcAft>
            </a:pPr>
            <a:r>
              <a:rPr sz="1600" b="0" i="0">
                <a:solidFill>
                  <a:srgbClr val="1A1A1A"/>
                </a:solidFill>
                <a:latin typeface="Segoe UI"/>
              </a:rPr>
              <a:t>The central-parietal hotspot of strength flattens (cluster p = 0.023) while overall strength is preserved</a:t>
            </a:r>
          </a:p>
        </p:txBody>
      </p:sp>
      <p:sp>
        <p:nvSpPr>
          <p:cNvPr id="9" name="Rounded Rectangle 8"/>
          <p:cNvSpPr/>
          <p:nvPr/>
        </p:nvSpPr>
        <p:spPr>
          <a:xfrm>
            <a:off x="815644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504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2F7FAE"/>
                </a:solidFill>
                <a:latin typeface="Segoe UI"/>
              </a:rPr>
              <a:t>aMCI = Elderly</a:t>
            </a:r>
          </a:p>
          <a:p>
            <a:pPr algn="l">
              <a:lnSpc>
                <a:spcPct val="105000"/>
              </a:lnSpc>
              <a:spcAft>
                <a:spcPts val="0"/>
              </a:spcAft>
            </a:pPr>
            <a:r>
              <a:rPr sz="1600" b="0" i="0">
                <a:solidFill>
                  <a:srgbClr val="1A1A1A"/>
                </a:solidFill>
                <a:latin typeface="Segoe UI"/>
              </a:rPr>
              <a:t>No difference on any measure, and no correlation with cognitive score</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 loss of temporal and spatial precision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In young adults the ISFS is strongest in fast spindles and over centro-parieto-occipital cortex (Molle 2011; Lazar 2019), and our young-adult hotspot reproduces that</a:t>
            </a:r>
          </a:p>
          <a:p>
            <a:pPr algn="l" marL="274320" indent="-274320">
              <a:lnSpc>
                <a:spcPct val="102000"/>
              </a:lnSpc>
              <a:spcAft>
                <a:spcPts val="1300"/>
              </a:spcAft>
              <a:buFont typeface="Arial"/>
              <a:buChar char="▪"/>
            </a:pPr>
            <a:r>
              <a:rPr sz="2000" b="0" i="0">
                <a:solidFill>
                  <a:srgbClr val="1A1A1A"/>
                </a:solidFill>
                <a:latin typeface="Segoe UI"/>
              </a:rPr>
              <a:t>With age the rhythm that organizes spindle trains speeds up, and its energy is no longer concentrated where fast-spindle generators are densest</a:t>
            </a:r>
          </a:p>
          <a:p>
            <a:pPr algn="l" marL="274320" indent="-274320">
              <a:lnSpc>
                <a:spcPct val="102000"/>
              </a:lnSpc>
              <a:spcAft>
                <a:spcPts val="1300"/>
              </a:spcAft>
              <a:buFont typeface="Arial"/>
              <a:buChar char="▪"/>
            </a:pPr>
            <a:r>
              <a:rPr sz="2000" b="0" i="0">
                <a:solidFill>
                  <a:srgbClr val="1A1A1A"/>
                </a:solidFill>
                <a:latin typeface="Segoe UI"/>
              </a:rPr>
              <a:t>AUC at an electrode reflects how deeply spindle amplitude rises and falls there, not how many spindles occur</a:t>
            </a:r>
          </a:p>
          <a:p>
            <a:pPr algn="l" marL="274320" indent="-274320">
              <a:lnSpc>
                <a:spcPct val="102000"/>
              </a:lnSpc>
              <a:spcAft>
                <a:spcPts val="1300"/>
              </a:spcAft>
              <a:buFont typeface="Arial"/>
              <a:buChar char="▪"/>
            </a:pPr>
            <a:r>
              <a:rPr sz="2000" b="0" i="0">
                <a:solidFill>
                  <a:srgbClr val="1A1A1A"/>
                </a:solidFill>
                <a:latin typeface="Segoe UI"/>
              </a:rPr>
              <a:t>So what was lost is regional focus, not overall strength: a drive that has become less precise rather than weaker</a:t>
            </a:r>
          </a:p>
          <a:p>
            <a:pPr algn="l" marL="274320" indent="-274320">
              <a:lnSpc>
                <a:spcPct val="102000"/>
              </a:lnSpc>
              <a:spcAft>
                <a:spcPts val="1300"/>
              </a:spcAft>
              <a:buFont typeface="Arial"/>
              <a:buChar char="▪"/>
            </a:pPr>
            <a:r>
              <a:rPr sz="2000" b="0" i="0">
                <a:solidFill>
                  <a:srgbClr val="1A1A1A"/>
                </a:solidFill>
                <a:latin typeface="Segoe UI"/>
              </a:rPr>
              <a:t>An infra-slow rhythm contributes to, but does not dominate, spindle timing (Chen 2025), so this is not direct evidence that spindle generation has degraded</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 noradrenergic account, and its limits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In rodents the LC does not merely accompany the rhythm, it sets its phase; noradrenaline in thalamus, basal forebrain and brainstem rises and falls on the same 50 s cycle</a:t>
            </a:r>
          </a:p>
          <a:p>
            <a:pPr algn="l" marL="274320" indent="-274320">
              <a:lnSpc>
                <a:spcPct val="102000"/>
              </a:lnSpc>
              <a:spcAft>
                <a:spcPts val="1300"/>
              </a:spcAft>
              <a:buFont typeface="Arial"/>
              <a:buChar char="▪"/>
            </a:pPr>
            <a:r>
              <a:rPr sz="2000" b="0" i="0">
                <a:solidFill>
                  <a:srgbClr val="1A1A1A"/>
                </a:solidFill>
                <a:latin typeface="Segoe UI"/>
              </a:rPr>
              <a:t>That structure ages badly: the earliest abnormal tau appears in the LC (Braak 2011), and it loses proportionally more neurons in Alzheimer's disease than the nucleus basalis or the substantia nigra (Zarow 2003)</a:t>
            </a:r>
          </a:p>
          <a:p>
            <a:pPr algn="l" marL="274320" indent="-274320">
              <a:lnSpc>
                <a:spcPct val="102000"/>
              </a:lnSpc>
              <a:spcAft>
                <a:spcPts val="1300"/>
              </a:spcAft>
              <a:buFont typeface="Arial"/>
              <a:buChar char="▪"/>
            </a:pPr>
            <a:r>
              <a:rPr sz="2000" b="0" i="0">
                <a:solidFill>
                  <a:srgbClr val="1A1A1A"/>
                </a:solidFill>
                <a:latin typeface="Segoe UI"/>
              </a:rPr>
              <a:t>In living humans, LC integrity tracks memory and sleep regulation in older adults, and an LC abnormality in aMCI separates those who progress to dementia from those who do not</a:t>
            </a:r>
          </a:p>
          <a:p>
            <a:pPr algn="l" marL="274320" indent="-274320">
              <a:lnSpc>
                <a:spcPct val="102000"/>
              </a:lnSpc>
              <a:spcAft>
                <a:spcPts val="1300"/>
              </a:spcAft>
              <a:buFont typeface="Arial"/>
              <a:buChar char="▪"/>
            </a:pPr>
            <a:r>
              <a:rPr sz="2000" b="0" i="0">
                <a:solidFill>
                  <a:srgbClr val="1A1A1A"/>
                </a:solidFill>
                <a:latin typeface="Segoe UI"/>
              </a:rPr>
              <a:t>A whole-scalp frequency effect fits a change in the pacemaker better than a change in the cortex where spindles appear</a:t>
            </a:r>
          </a:p>
          <a:p>
            <a:pPr algn="l" marL="274320" indent="-274320">
              <a:lnSpc>
                <a:spcPct val="102000"/>
              </a:lnSpc>
              <a:spcAft>
                <a:spcPts val="1300"/>
              </a:spcAft>
              <a:buFont typeface="Arial"/>
              <a:buChar char="▪"/>
            </a:pPr>
            <a:r>
              <a:rPr sz="2000" b="0" i="0">
                <a:solidFill>
                  <a:srgbClr val="1A1A1A"/>
                </a:solidFill>
                <a:latin typeface="Segoe UI"/>
              </a:rPr>
              <a:t>Not shown here: neither noradrenergic nor thalamic activity was measured. What our data can do is test the account's prediction</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No evidence for an effect of amnestic MCI beyond age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The two groups were age-matched and differed in cognitive score, yet were indistinguishable on every ISFS measure</a:t>
            </a:r>
          </a:p>
          <a:p>
            <a:pPr algn="l" marL="274320" indent="-274320">
              <a:lnSpc>
                <a:spcPct val="102000"/>
              </a:lnSpc>
              <a:spcAft>
                <a:spcPts val="1300"/>
              </a:spcAft>
              <a:buFont typeface="Arial"/>
              <a:buChar char="▪"/>
            </a:pPr>
            <a:r>
              <a:rPr sz="2000" b="0" i="0">
                <a:solidFill>
                  <a:srgbClr val="1A1A1A"/>
                </a:solidFill>
                <a:latin typeface="Segoe UI"/>
              </a:rPr>
              <a:t>Reading one: the change is already well advanced in healthy older adults, and the transition to aMCI does not measurably accelerate it</a:t>
            </a:r>
          </a:p>
          <a:p>
            <a:pPr algn="l" marL="274320" indent="-274320">
              <a:lnSpc>
                <a:spcPct val="102000"/>
              </a:lnSpc>
              <a:spcAft>
                <a:spcPts val="1300"/>
              </a:spcAft>
              <a:buFont typeface="Arial"/>
              <a:buChar char="▪"/>
            </a:pPr>
            <a:r>
              <a:rPr sz="2000" b="0" i="0">
                <a:solidFill>
                  <a:srgbClr val="1A1A1A"/>
                </a:solidFill>
                <a:latin typeface="Segoe UI"/>
              </a:rPr>
              <a:t>Reading two: the rhythm changes before cognition does, in which case a group defined by cognitive score cannot separate</a:t>
            </a:r>
          </a:p>
          <a:p>
            <a:pPr algn="l" marL="274320" indent="-274320">
              <a:lnSpc>
                <a:spcPct val="102000"/>
              </a:lnSpc>
              <a:spcAft>
                <a:spcPts val="1300"/>
              </a:spcAft>
              <a:buFont typeface="Arial"/>
              <a:buChar char="▪"/>
            </a:pPr>
            <a:r>
              <a:rPr sz="2000" b="0" i="0">
                <a:solidFill>
                  <a:srgbClr val="1A1A1A"/>
                </a:solidFill>
                <a:latin typeface="Segoe UI"/>
              </a:rPr>
              <a:t>Dilution: aMCI is aetiologically mixed, so an Alzheimer's-specific effect would be diluted by the patients who do not have that pathology</a:t>
            </a:r>
          </a:p>
          <a:p>
            <a:pPr algn="l" marL="274320" indent="-274320">
              <a:lnSpc>
                <a:spcPct val="102000"/>
              </a:lnSpc>
              <a:spcAft>
                <a:spcPts val="1300"/>
              </a:spcAft>
              <a:buFont typeface="Arial"/>
              <a:buChar char="▪"/>
            </a:pPr>
            <a:r>
              <a:rPr sz="2000" b="0" i="0">
                <a:solidFill>
                  <a:srgbClr val="1A1A1A"/>
                </a:solidFill>
                <a:latin typeface="Segoe UI"/>
              </a:rPr>
              <a:t>A contrast worth noting: in an overlapping cohort, slow-wave synchrony does track impairment (Sharon 2025), and the cyclic alternating pattern is reduced in MCI and predicts incident dementia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ISFS in other populations, and why comparison is hard</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Reduced central-parietal strength in childhood- and early-onset schizophrenia, uncorrelated with clinical characteristics (Dimitriades 2025): structurally the same result as ours, in a different condition and a much younger sample</a:t>
            </a:r>
          </a:p>
          <a:p>
            <a:pPr algn="l" marL="274320" indent="-274320">
              <a:lnSpc>
                <a:spcPct val="102000"/>
              </a:lnSpc>
              <a:spcAft>
                <a:spcPts val="1300"/>
              </a:spcAft>
              <a:buFont typeface="Arial"/>
              <a:buChar char="▪"/>
            </a:pPr>
            <a:r>
              <a:rPr sz="2000" b="0" i="0">
                <a:solidFill>
                  <a:srgbClr val="1A1A1A"/>
                </a:solidFill>
                <a:latin typeface="Segoe UI"/>
              </a:rPr>
              <a:t>Elevated infra-slow sigma power in myalgic encephalomyelitis and chronic fatigue syndrome (Sun 2026)</a:t>
            </a:r>
          </a:p>
          <a:p>
            <a:pPr algn="l" marL="274320" indent="-274320">
              <a:lnSpc>
                <a:spcPct val="102000"/>
              </a:lnSpc>
              <a:spcAft>
                <a:spcPts val="1300"/>
              </a:spcAft>
              <a:buFont typeface="Arial"/>
              <a:buChar char="▪"/>
            </a:pPr>
            <a:r>
              <a:rPr sz="2000" b="0" i="0">
                <a:solidFill>
                  <a:srgbClr val="1A1A1A"/>
                </a:solidFill>
                <a:latin typeface="Segoe UI"/>
              </a:rPr>
              <a:t>Already measurable in children aged one to five, with no difference between autistic and typically developing children (Liu 2026)</a:t>
            </a:r>
          </a:p>
          <a:p>
            <a:pPr algn="l" marL="274320" indent="-274320">
              <a:lnSpc>
                <a:spcPct val="102000"/>
              </a:lnSpc>
              <a:spcAft>
                <a:spcPts val="1300"/>
              </a:spcAft>
              <a:buFont typeface="Arial"/>
              <a:buChar char="▪"/>
            </a:pPr>
            <a:r>
              <a:rPr sz="2000" b="0" i="0">
                <a:solidFill>
                  <a:srgbClr val="1A1A1A"/>
                </a:solidFill>
                <a:latin typeface="Segoe UI"/>
              </a:rPr>
              <a:t>But the rhythm is not measured the same way: a Gaussian fit to the envelope spectrum (ours) or relative band power in a fixed window, which yields no frequency or bandwidth at all</a:t>
            </a:r>
          </a:p>
          <a:p>
            <a:pPr algn="l" marL="274320" indent="-274320">
              <a:lnSpc>
                <a:spcPct val="102000"/>
              </a:lnSpc>
              <a:spcAft>
                <a:spcPts val="1300"/>
              </a:spcAft>
              <a:buFont typeface="Arial"/>
              <a:buChar char="▪"/>
            </a:pPr>
            <a:r>
              <a:rPr sz="2000" b="0" i="0">
                <a:solidFill>
                  <a:srgbClr val="1A1A1A"/>
                </a:solidFill>
                <a:latin typeface="Segoe UI"/>
              </a:rPr>
              <a:t>Even strength is three different quantities across studies: area of the fitted peak, amplitude of the fitted peak, or relative band power</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Limitations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Modest samples, two recording sites, and patients recruited through memory clinics rather than assembled as a uniform research cohort</a:t>
            </a:r>
          </a:p>
          <a:p>
            <a:pPr algn="l" marL="274320" indent="-274320">
              <a:lnSpc>
                <a:spcPct val="102000"/>
              </a:lnSpc>
              <a:spcAft>
                <a:spcPts val="1300"/>
              </a:spcAft>
              <a:buFont typeface="Arial"/>
              <a:buChar char="▪"/>
            </a:pPr>
            <a:r>
              <a:rPr sz="2000" b="0" i="0">
                <a:solidFill>
                  <a:srgbClr val="1A1A1A"/>
                </a:solidFill>
                <a:latin typeface="Segoe UI"/>
              </a:rPr>
              <a:t>Patients reach a clinic at different points in their illness, so an effect confined to more advanced patients could have been missed</a:t>
            </a:r>
          </a:p>
          <a:p>
            <a:pPr algn="l" marL="274320" indent="-274320">
              <a:lnSpc>
                <a:spcPct val="102000"/>
              </a:lnSpc>
              <a:spcAft>
                <a:spcPts val="1300"/>
              </a:spcAft>
              <a:buFont typeface="Arial"/>
              <a:buChar char="▪"/>
            </a:pPr>
            <a:r>
              <a:rPr sz="2000" b="0" i="0">
                <a:solidFill>
                  <a:srgbClr val="1A1A1A"/>
                </a:solidFill>
                <a:latin typeface="Segoe UI"/>
              </a:rPr>
              <a:t>The ROI reduction fell short of significance (p = 0.143) and would benefit from a larger sample</a:t>
            </a:r>
          </a:p>
          <a:p>
            <a:pPr algn="l" marL="274320" indent="-274320">
              <a:lnSpc>
                <a:spcPct val="102000"/>
              </a:lnSpc>
              <a:spcAft>
                <a:spcPts val="1300"/>
              </a:spcAft>
              <a:buFont typeface="Arial"/>
              <a:buChar char="▪"/>
            </a:pPr>
            <a:r>
              <a:rPr sz="2000" b="0" i="0">
                <a:solidFill>
                  <a:srgbClr val="1A1A1A"/>
                </a:solidFill>
                <a:latin typeface="Segoe UI"/>
              </a:rPr>
              <a:t>Cognitive scores were available for only part of the older sample (n = 44)</a:t>
            </a:r>
          </a:p>
          <a:p>
            <a:pPr algn="l" marL="274320" indent="-274320">
              <a:lnSpc>
                <a:spcPct val="102000"/>
              </a:lnSpc>
              <a:spcAft>
                <a:spcPts val="1300"/>
              </a:spcAft>
              <a:buFont typeface="Arial"/>
              <a:buChar char="▪"/>
            </a:pPr>
            <a:r>
              <a:rPr sz="2000" b="0" i="0">
                <a:solidFill>
                  <a:srgbClr val="1A1A1A"/>
                </a:solidFill>
                <a:latin typeface="Segoe UI"/>
              </a:rPr>
              <a:t>Cross-sectional: individual trajectories, and which patients progress, cannot be identified from these data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Future directions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Longitudinal recordings: does ISFS topography predict conversion, or track decline within individuals?</a:t>
            </a:r>
          </a:p>
          <a:p>
            <a:pPr algn="l" marL="274320" indent="-274320">
              <a:lnSpc>
                <a:spcPct val="102000"/>
              </a:lnSpc>
              <a:spcAft>
                <a:spcPts val="1300"/>
              </a:spcAft>
              <a:buFont typeface="Arial"/>
              <a:buChar char="▪"/>
            </a:pPr>
            <a:r>
              <a:rPr sz="2000" b="0" i="0">
                <a:solidFill>
                  <a:srgbClr val="1A1A1A"/>
                </a:solidFill>
                <a:latin typeface="Segoe UI"/>
              </a:rPr>
              <a:t>Coupling: sleep is built from nested rhythms, and the timing of spindles relative to the slow oscillation predicts overnight retention and loosens with age (Helfrich 2018)</a:t>
            </a:r>
          </a:p>
          <a:p>
            <a:pPr algn="l" marL="274320" indent="-274320">
              <a:lnSpc>
                <a:spcPct val="102000"/>
              </a:lnSpc>
              <a:spcAft>
                <a:spcPts val="1300"/>
              </a:spcAft>
              <a:buFont typeface="Arial"/>
              <a:buChar char="▪"/>
            </a:pPr>
            <a:r>
              <a:rPr sz="2000" b="0" i="0">
                <a:solidFill>
                  <a:srgbClr val="1A1A1A"/>
                </a:solidFill>
                <a:latin typeface="Segoe UI"/>
              </a:rPr>
              <a:t>So ask what the ISFS is coupled to: the slow oscillations inside its windows, and the infra-slow haemodynamic fluctuations that share its timescale</a:t>
            </a:r>
          </a:p>
          <a:p>
            <a:pPr algn="l" marL="274320" indent="-274320">
              <a:lnSpc>
                <a:spcPct val="102000"/>
              </a:lnSpc>
              <a:spcAft>
                <a:spcPts val="1300"/>
              </a:spcAft>
              <a:buFont typeface="Arial"/>
              <a:buChar char="▪"/>
            </a:pPr>
            <a:r>
              <a:rPr sz="2000" b="0" i="0">
                <a:solidFill>
                  <a:srgbClr val="1A1A1A"/>
                </a:solidFill>
                <a:latin typeface="Segoe UI"/>
              </a:rPr>
              <a:t>The LC cannot be recorded in a sleeping human, so the origin of the human rhythm will stay inferred; converging indirect evidence is the route</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Conclusion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149840" cy="2743200"/>
          </a:xfrm>
          <a:prstGeom prst="rect">
            <a:avLst/>
          </a:prstGeom>
          <a:noFill/>
        </p:spPr>
        <p:txBody>
          <a:bodyPr wrap="square" anchor="ctr">
            <a:spAutoFit/>
          </a:bodyPr>
          <a:lstStyle/>
          <a:p>
            <a:pPr algn="l">
              <a:lnSpc>
                <a:spcPct val="115000"/>
              </a:lnSpc>
              <a:spcAft>
                <a:spcPts val="2600"/>
              </a:spcAft>
            </a:pPr>
            <a:r>
              <a:rPr sz="2600" b="1" i="0">
                <a:solidFill>
                  <a:srgbClr val="1F3A5F"/>
                </a:solidFill>
                <a:latin typeface="Segoe UI"/>
              </a:rPr>
              <a:t>The infra-slow sigma rhythm of N2 sleep is a sensitive marker of how healthy aging reshapes the spindle infrastructure of sleep: it becomes faster and loses its central-parietal focus.</a:t>
            </a:r>
          </a:p>
          <a:p>
            <a:pPr algn="l">
              <a:lnSpc>
                <a:spcPct val="115000"/>
              </a:lnSpc>
              <a:spcAft>
                <a:spcPts val="0"/>
              </a:spcAft>
            </a:pPr>
            <a:r>
              <a:rPr sz="2200" b="0" i="0">
                <a:solidFill>
                  <a:srgbClr val="1A1A1A"/>
                </a:solidFill>
                <a:latin typeface="Segoe UI"/>
              </a:rPr>
              <a:t>It did not distinguish patients with amnestic MCI from healthy older adults of the same age.</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Acknowledgements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Prof. Yuval Nir, for the guidance and the standards</a:t>
            </a:r>
          </a:p>
          <a:p>
            <a:pPr algn="l" marL="274320" indent="-274320">
              <a:lnSpc>
                <a:spcPct val="102000"/>
              </a:lnSpc>
              <a:spcAft>
                <a:spcPts val="1300"/>
              </a:spcAft>
              <a:buFont typeface="Arial"/>
              <a:buChar char="▪"/>
            </a:pPr>
            <a:r>
              <a:rPr sz="2000" b="0" i="0">
                <a:solidFill>
                  <a:srgbClr val="1A1A1A"/>
                </a:solidFill>
                <a:latin typeface="Segoe UI"/>
              </a:rPr>
              <a:t>Noa Bregman, and Rivi Tauman and Jenny Zitser, for the clinical and sleep-medicine side</a:t>
            </a:r>
          </a:p>
          <a:p>
            <a:pPr algn="l" marL="274320" indent="-274320">
              <a:lnSpc>
                <a:spcPct val="102000"/>
              </a:lnSpc>
              <a:spcAft>
                <a:spcPts val="1300"/>
              </a:spcAft>
              <a:buFont typeface="Arial"/>
              <a:buChar char="▪"/>
            </a:pPr>
            <a:r>
              <a:rPr sz="2000" b="0" i="0">
                <a:solidFill>
                  <a:srgbClr val="1A1A1A"/>
                </a:solidFill>
                <a:latin typeface="Segoe UI"/>
              </a:rPr>
              <a:t>Maria E. Dimitriades, whose analysis pipeline this work is built on</a:t>
            </a:r>
          </a:p>
          <a:p>
            <a:pPr algn="l" marL="274320" indent="-274320">
              <a:lnSpc>
                <a:spcPct val="102000"/>
              </a:lnSpc>
              <a:spcAft>
                <a:spcPts val="1300"/>
              </a:spcAft>
              <a:buFont typeface="Arial"/>
              <a:buChar char="▪"/>
            </a:pPr>
            <a:r>
              <a:rPr sz="2000" b="0" i="0">
                <a:solidFill>
                  <a:srgbClr val="1A1A1A"/>
                </a:solidFill>
                <a:latin typeface="Segoe UI"/>
              </a:rPr>
              <a:t>Angela D'Rozario and Rick Wassing, for the recordings at the CIRUS Centre in Sydney</a:t>
            </a:r>
          </a:p>
          <a:p>
            <a:pPr algn="l" marL="274320" indent="-274320">
              <a:lnSpc>
                <a:spcPct val="102000"/>
              </a:lnSpc>
              <a:spcAft>
                <a:spcPts val="1300"/>
              </a:spcAft>
              <a:buFont typeface="Arial"/>
              <a:buChar char="▪"/>
            </a:pPr>
            <a:r>
              <a:rPr sz="2000" b="0" i="0">
                <a:solidFill>
                  <a:srgbClr val="1A1A1A"/>
                </a:solidFill>
                <a:latin typeface="Segoe UI"/>
              </a:rPr>
              <a:t>Rotem Falach and Flavio Schmidig, who taught me EEG analysis, and the whole Nir lab</a:t>
            </a:r>
          </a:p>
          <a:p>
            <a:pPr algn="l" marL="274320" indent="-274320">
              <a:lnSpc>
                <a:spcPct val="102000"/>
              </a:lnSpc>
              <a:spcAft>
                <a:spcPts val="1300"/>
              </a:spcAft>
              <a:buFont typeface="Arial"/>
              <a:buChar char="▪"/>
            </a:pPr>
            <a:r>
              <a:rPr sz="2000" b="0" i="0">
                <a:solidFill>
                  <a:srgbClr val="1A1A1A"/>
                </a:solidFill>
                <a:latin typeface="Segoe UI"/>
              </a:rPr>
              <a:t>The participants and their families</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Backup slides</a:t>
            </a:r>
          </a:p>
          <a:p>
            <a:pPr algn="l">
              <a:lnSpc>
                <a:spcPct val="105000"/>
              </a:lnSpc>
              <a:spcAft>
                <a:spcPts val="0"/>
              </a:spcAft>
            </a:pPr>
            <a:r>
              <a:rPr sz="1900" b="0" i="0">
                <a:solidFill>
                  <a:srgbClr val="C9D5E4"/>
                </a:solidFill>
                <a:latin typeface="Segoe UI"/>
              </a:rPr>
              <a:t>Referenced by number from the notes of the slide each one defends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 Full demographics and data quality</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Sample sizes, age, MoCA, bad channels and bad N2 epochs per group, with exclusion counts.</a:t>
            </a:r>
          </a:p>
        </p:txBody>
      </p:sp>
      <p:pic>
        <p:nvPicPr>
          <p:cNvPr id="5" name="Picture 4" descr="demographics_table.png"/>
          <p:cNvPicPr>
            <a:picLocks noChangeAspect="1"/>
          </p:cNvPicPr>
          <p:nvPr/>
        </p:nvPicPr>
        <p:blipFill>
          <a:blip r:embed="rId2"/>
          <a:stretch>
            <a:fillRect/>
          </a:stretch>
        </p:blipFill>
        <p:spPr>
          <a:xfrm>
            <a:off x="2674997" y="1874519"/>
            <a:ext cx="6857244" cy="237744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B2. Full sleep table, with tests and effect sizes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Sleep architecture, sleep continuity and N2 bout properties, with the omnibus test, eta squared and post-hoc p values for every row.</a:t>
            </a:r>
          </a:p>
        </p:txBody>
      </p:sp>
      <p:pic>
        <p:nvPicPr>
          <p:cNvPr id="5" name="Picture 4" descr="table2_sleep_architecture.png"/>
          <p:cNvPicPr>
            <a:picLocks noChangeAspect="1"/>
          </p:cNvPicPr>
          <p:nvPr/>
        </p:nvPicPr>
        <p:blipFill>
          <a:blip r:embed="rId2"/>
          <a:stretch>
            <a:fillRect/>
          </a:stretch>
        </p:blipFill>
        <p:spPr>
          <a:xfrm>
            <a:off x="2292972" y="2084831"/>
            <a:ext cx="7621294" cy="40233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B3. Exclusions: 26 recordings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Analyzed: 35, 39 and 30 recordings. Patients who had progressed to a clinical diagnosis of Alzheimer's disease were not included in the analysis at all, and are not counted here.</a:t>
            </a:r>
          </a:p>
        </p:txBody>
      </p:sp>
      <p:graphicFrame>
        <p:nvGraphicFramePr>
          <p:cNvPr id="5" name="Table 4"/>
          <p:cNvGraphicFramePr>
            <a:graphicFrameLocks noGrp="1"/>
          </p:cNvGraphicFramePr>
          <p:nvPr/>
        </p:nvGraphicFramePr>
        <p:xfrm>
          <a:off x="609447" y="2057400"/>
          <a:ext cx="10972800" cy="3017520"/>
        </p:xfrm>
        <a:graphic>
          <a:graphicData uri="http://schemas.openxmlformats.org/drawingml/2006/table">
            <a:tbl>
              <a:tblPr firstRow="1" bandRow="1">
                <a:tableStyleId>{5C22544A-7EE6-4342-B048-85BDC9FD1C3A}</a:tableStyleId>
              </a:tblPr>
              <a:tblGrid>
                <a:gridCol w="4937760"/>
                <a:gridCol w="2011680"/>
                <a:gridCol w="2011680"/>
                <a:gridCol w="2011680"/>
              </a:tblGrid>
              <a:tr h="502920">
                <a:tc>
                  <a:txBody>
                    <a:bodyPr/>
                    <a:lstStyle/>
                    <a:p>
                      <a:pPr algn="l"/>
                      <a:r>
                        <a:rPr sz="1800" b="1">
                          <a:solidFill>
                            <a:srgbClr val="FFFFFF"/>
                          </a:solidFill>
                          <a:latin typeface="Segoe UI"/>
                        </a:rPr>
                        <a:t>Reason</a:t>
                      </a:r>
                    </a:p>
                  </a:txBody>
                  <a:tcPr marL="91440" marR="73152" marT="27432" marB="27432" anchor="ctr">
                    <a:solidFill>
                      <a:srgbClr val="1F3A5F"/>
                    </a:solidFill>
                  </a:tcPr>
                </a:tc>
                <a:tc>
                  <a:txBody>
                    <a:bodyPr/>
                    <a:lstStyle/>
                    <a:p>
                      <a:pPr algn="ctr"/>
                      <a:r>
                        <a:rPr sz="1800" b="1">
                          <a:solidFill>
                            <a:srgbClr val="FFFFFF"/>
                          </a:solidFill>
                          <a:latin typeface="Segoe UI"/>
                        </a:rPr>
                        <a:t>Young</a:t>
                      </a:r>
                    </a:p>
                  </a:txBody>
                  <a:tcPr marL="91440" marR="73152" marT="27432" marB="27432" anchor="ctr">
                    <a:solidFill>
                      <a:srgbClr val="2F9C86"/>
                    </a:solidFill>
                  </a:tcPr>
                </a:tc>
                <a:tc>
                  <a:txBody>
                    <a:bodyPr/>
                    <a:lstStyle/>
                    <a:p>
                      <a:pPr algn="ctr"/>
                      <a:r>
                        <a:rPr sz="1800" b="1">
                          <a:solidFill>
                            <a:srgbClr val="FFFFFF"/>
                          </a:solidFill>
                          <a:latin typeface="Segoe UI"/>
                        </a:rPr>
                        <a:t>Elderly</a:t>
                      </a:r>
                    </a:p>
                  </a:txBody>
                  <a:tcPr marL="91440" marR="73152" marT="27432" marB="27432" anchor="ctr">
                    <a:solidFill>
                      <a:srgbClr val="D0402C"/>
                    </a:solidFill>
                  </a:tcPr>
                </a:tc>
                <a:tc>
                  <a:txBody>
                    <a:bodyPr/>
                    <a:lstStyle/>
                    <a:p>
                      <a:pPr algn="ctr"/>
                      <a:r>
                        <a:rPr sz="1800" b="1">
                          <a:solidFill>
                            <a:srgbClr val="FFFFFF"/>
                          </a:solidFill>
                          <a:latin typeface="Segoe UI"/>
                        </a:rPr>
                        <a:t>aMCI</a:t>
                      </a:r>
                    </a:p>
                  </a:txBody>
                  <a:tcPr marL="91440" marR="73152" marT="27432" marB="27432" anchor="ctr">
                    <a:solidFill>
                      <a:srgbClr val="2F7FAE"/>
                    </a:solidFill>
                  </a:tcPr>
                </a:tc>
              </a:tr>
              <a:tr h="502920">
                <a:tc>
                  <a:txBody>
                    <a:bodyPr/>
                    <a:lstStyle/>
                    <a:p>
                      <a:pPr algn="l"/>
                      <a:r>
                        <a:rPr sz="1800" b="0">
                          <a:solidFill>
                            <a:srgbClr val="1A1A1A"/>
                          </a:solidFill>
                          <a:latin typeface="Segoe UI"/>
                        </a:rPr>
                        <a:t>Fewer than 3 clean N2 bouts</a:t>
                      </a:r>
                    </a:p>
                  </a:txBody>
                  <a:tcPr marL="91440" marR="73152" marT="27432" marB="27432" anchor="ctr">
                    <a:solidFill>
                      <a:srgbClr val="FFFFFF"/>
                    </a:solidFill>
                  </a:tcPr>
                </a:tc>
                <a:tc>
                  <a:txBody>
                    <a:bodyPr/>
                    <a:lstStyle/>
                    <a:p>
                      <a:pPr algn="ctr"/>
                      <a:r>
                        <a:rPr sz="1800" b="0">
                          <a:solidFill>
                            <a:srgbClr val="1A1A1A"/>
                          </a:solidFill>
                          <a:latin typeface="Segoe UI"/>
                        </a:rPr>
                        <a:t>4</a:t>
                      </a:r>
                    </a:p>
                  </a:txBody>
                  <a:tcPr marL="91440" marR="73152" marT="27432" marB="27432" anchor="ctr">
                    <a:solidFill>
                      <a:srgbClr val="FFFFFF"/>
                    </a:solidFill>
                  </a:tcPr>
                </a:tc>
                <a:tc>
                  <a:txBody>
                    <a:bodyPr/>
                    <a:lstStyle/>
                    <a:p>
                      <a:pPr algn="ctr"/>
                      <a:r>
                        <a:rPr sz="1800" b="0">
                          <a:solidFill>
                            <a:srgbClr val="1A1A1A"/>
                          </a:solidFill>
                          <a:latin typeface="Segoe UI"/>
                        </a:rPr>
                        <a:t>2</a:t>
                      </a:r>
                    </a:p>
                  </a:txBody>
                  <a:tcPr marL="91440" marR="73152" marT="27432" marB="27432" anchor="ctr">
                    <a:solidFill>
                      <a:srgbClr val="FFFFFF"/>
                    </a:solidFill>
                  </a:tcPr>
                </a:tc>
                <a:tc>
                  <a:txBody>
                    <a:bodyPr/>
                    <a:lstStyle/>
                    <a:p>
                      <a:pPr algn="ctr"/>
                      <a:r>
                        <a:rPr sz="1800" b="0">
                          <a:solidFill>
                            <a:srgbClr val="1A1A1A"/>
                          </a:solidFill>
                          <a:latin typeface="Segoe UI"/>
                        </a:rPr>
                        <a:t>3</a:t>
                      </a:r>
                    </a:p>
                  </a:txBody>
                  <a:tcPr marL="91440" marR="73152" marT="27432" marB="27432" anchor="ctr">
                    <a:solidFill>
                      <a:srgbClr val="FFFFFF"/>
                    </a:solidFill>
                  </a:tcPr>
                </a:tc>
              </a:tr>
              <a:tr h="502920">
                <a:tc>
                  <a:txBody>
                    <a:bodyPr/>
                    <a:lstStyle/>
                    <a:p>
                      <a:pPr algn="l"/>
                      <a:r>
                        <a:rPr sz="1800" b="0">
                          <a:solidFill>
                            <a:srgbClr val="1A1A1A"/>
                          </a:solidFill>
                          <a:latin typeface="Segoe UI"/>
                        </a:rPr>
                        <a:t>Too many bad channels</a:t>
                      </a:r>
                    </a:p>
                  </a:txBody>
                  <a:tcPr marL="91440" marR="73152" marT="27432" marB="27432" anchor="ctr">
                    <a:solidFill>
                      <a:srgbClr val="F2F5F8"/>
                    </a:solidFill>
                  </a:tcPr>
                </a:tc>
                <a:tc>
                  <a:txBody>
                    <a:bodyPr/>
                    <a:lstStyle/>
                    <a:p>
                      <a:pPr algn="ctr"/>
                      <a:r>
                        <a:rPr sz="1800" b="0">
                          <a:solidFill>
                            <a:srgbClr val="1A1A1A"/>
                          </a:solidFill>
                          <a:latin typeface="Segoe UI"/>
                        </a:rPr>
                        <a:t>4</a:t>
                      </a:r>
                    </a:p>
                  </a:txBody>
                  <a:tcPr marL="91440" marR="73152" marT="27432" marB="27432" anchor="ctr">
                    <a:solidFill>
                      <a:srgbClr val="F2F5F8"/>
                    </a:solidFill>
                  </a:tcPr>
                </a:tc>
                <a:tc>
                  <a:txBody>
                    <a:bodyPr/>
                    <a:lstStyle/>
                    <a:p>
                      <a:pPr algn="ctr"/>
                      <a:r>
                        <a:rPr sz="1800" b="0">
                          <a:solidFill>
                            <a:srgbClr val="1A1A1A"/>
                          </a:solidFill>
                          <a:latin typeface="Segoe UI"/>
                        </a:rPr>
                        <a:t>1</a:t>
                      </a:r>
                    </a:p>
                  </a:txBody>
                  <a:tcPr marL="91440" marR="73152" marT="27432" marB="27432" anchor="ctr">
                    <a:solidFill>
                      <a:srgbClr val="F2F5F8"/>
                    </a:solidFill>
                  </a:tcPr>
                </a:tc>
                <a:tc>
                  <a:txBody>
                    <a:bodyPr/>
                    <a:lstStyle/>
                    <a:p>
                      <a:pPr algn="ctr"/>
                      <a:r>
                        <a:rPr sz="1800" b="0">
                          <a:solidFill>
                            <a:srgbClr val="1A1A1A"/>
                          </a:solidFill>
                          <a:latin typeface="Segoe UI"/>
                        </a:rPr>
                        <a:t>4</a:t>
                      </a:r>
                    </a:p>
                  </a:txBody>
                  <a:tcPr marL="91440" marR="73152" marT="27432" marB="27432" anchor="ctr">
                    <a:solidFill>
                      <a:srgbClr val="F2F5F8"/>
                    </a:solidFill>
                  </a:tcPr>
                </a:tc>
              </a:tr>
              <a:tr h="502920">
                <a:tc>
                  <a:txBody>
                    <a:bodyPr/>
                    <a:lstStyle/>
                    <a:p>
                      <a:pPr algn="l"/>
                      <a:r>
                        <a:rPr sz="1800" b="0">
                          <a:solidFill>
                            <a:srgbClr val="1A1A1A"/>
                          </a:solidFill>
                          <a:latin typeface="Segoe UI"/>
                        </a:rPr>
                        <a:t>Too many bad N2 epochs</a:t>
                      </a:r>
                    </a:p>
                  </a:txBody>
                  <a:tcPr marL="91440" marR="73152" marT="27432" marB="27432" anchor="ctr">
                    <a:solidFill>
                      <a:srgbClr val="FFFFFF"/>
                    </a:solidFill>
                  </a:tcPr>
                </a:tc>
                <a:tc>
                  <a:txBody>
                    <a:bodyPr/>
                    <a:lstStyle/>
                    <a:p>
                      <a:pPr algn="ctr"/>
                      <a:r>
                        <a:rPr sz="1800" b="0">
                          <a:solidFill>
                            <a:srgbClr val="1A1A1A"/>
                          </a:solidFill>
                          <a:latin typeface="Segoe UI"/>
                        </a:rPr>
                        <a:t>1</a:t>
                      </a:r>
                    </a:p>
                  </a:txBody>
                  <a:tcPr marL="91440" marR="73152" marT="27432" marB="27432" anchor="ctr">
                    <a:solidFill>
                      <a:srgbClr val="FFFFFF"/>
                    </a:solidFill>
                  </a:tcPr>
                </a:tc>
                <a:tc>
                  <a:txBody>
                    <a:bodyPr/>
                    <a:lstStyle/>
                    <a:p>
                      <a:pPr algn="ctr"/>
                      <a:r>
                        <a:rPr sz="1800" b="0">
                          <a:solidFill>
                            <a:srgbClr val="1A1A1A"/>
                          </a:solidFill>
                          <a:latin typeface="Segoe UI"/>
                        </a:rPr>
                        <a:t>1</a:t>
                      </a:r>
                    </a:p>
                  </a:txBody>
                  <a:tcPr marL="91440" marR="73152" marT="27432" marB="27432" anchor="ctr">
                    <a:solidFill>
                      <a:srgbClr val="FFFFFF"/>
                    </a:solidFill>
                  </a:tcPr>
                </a:tc>
                <a:tc>
                  <a:txBody>
                    <a:bodyPr/>
                    <a:lstStyle/>
                    <a:p>
                      <a:pPr algn="ctr"/>
                      <a:r>
                        <a:rPr sz="1800" b="0">
                          <a:solidFill>
                            <a:srgbClr val="1A1A1A"/>
                          </a:solidFill>
                          <a:latin typeface="Segoe UI"/>
                        </a:rPr>
                        <a:t>2</a:t>
                      </a:r>
                    </a:p>
                  </a:txBody>
                  <a:tcPr marL="91440" marR="73152" marT="27432" marB="27432" anchor="ctr">
                    <a:solidFill>
                      <a:srgbClr val="FFFFFF"/>
                    </a:solidFill>
                  </a:tcPr>
                </a:tc>
              </a:tr>
              <a:tr h="502920">
                <a:tc>
                  <a:txBody>
                    <a:bodyPr/>
                    <a:lstStyle/>
                    <a:p>
                      <a:pPr algn="l"/>
                      <a:r>
                        <a:rPr sz="1800" b="0">
                          <a:solidFill>
                            <a:srgbClr val="1A1A1A"/>
                          </a:solidFill>
                          <a:latin typeface="Segoe UI"/>
                        </a:rPr>
                        <a:t>Total sleep time under 210 min</a:t>
                      </a:r>
                    </a:p>
                  </a:txBody>
                  <a:tcPr marL="91440" marR="73152" marT="27432" marB="27432" anchor="ctr">
                    <a:solidFill>
                      <a:srgbClr val="F2F5F8"/>
                    </a:solidFill>
                  </a:tcPr>
                </a:tc>
                <a:tc>
                  <a:txBody>
                    <a:bodyPr/>
                    <a:lstStyle/>
                    <a:p>
                      <a:pPr algn="ctr"/>
                      <a:r>
                        <a:rPr sz="1800" b="0">
                          <a:solidFill>
                            <a:srgbClr val="1A1A1A"/>
                          </a:solidFill>
                          <a:latin typeface="Segoe UI"/>
                        </a:rPr>
                        <a:t>1</a:t>
                      </a:r>
                    </a:p>
                  </a:txBody>
                  <a:tcPr marL="91440" marR="73152" marT="27432" marB="27432" anchor="ctr">
                    <a:solidFill>
                      <a:srgbClr val="F2F5F8"/>
                    </a:solidFill>
                  </a:tcPr>
                </a:tc>
                <a:tc>
                  <a:txBody>
                    <a:bodyPr/>
                    <a:lstStyle/>
                    <a:p>
                      <a:pPr algn="ctr"/>
                      <a:r>
                        <a:rPr sz="1800" b="0">
                          <a:solidFill>
                            <a:srgbClr val="1A1A1A"/>
                          </a:solidFill>
                          <a:latin typeface="Segoe UI"/>
                        </a:rPr>
                        <a:t>0</a:t>
                      </a:r>
                    </a:p>
                  </a:txBody>
                  <a:tcPr marL="91440" marR="73152" marT="27432" marB="27432" anchor="ctr">
                    <a:solidFill>
                      <a:srgbClr val="F2F5F8"/>
                    </a:solidFill>
                  </a:tcPr>
                </a:tc>
                <a:tc>
                  <a:txBody>
                    <a:bodyPr/>
                    <a:lstStyle/>
                    <a:p>
                      <a:pPr algn="ctr"/>
                      <a:r>
                        <a:rPr sz="1800" b="0">
                          <a:solidFill>
                            <a:srgbClr val="1A1A1A"/>
                          </a:solidFill>
                          <a:latin typeface="Segoe UI"/>
                        </a:rPr>
                        <a:t>3</a:t>
                      </a:r>
                    </a:p>
                  </a:txBody>
                  <a:tcPr marL="91440" marR="73152" marT="27432" marB="27432" anchor="ctr">
                    <a:solidFill>
                      <a:srgbClr val="F2F5F8"/>
                    </a:solidFill>
                  </a:tcPr>
                </a:tc>
              </a:tr>
              <a:tr h="502920">
                <a:tc>
                  <a:txBody>
                    <a:bodyPr/>
                    <a:lstStyle/>
                    <a:p>
                      <a:pPr algn="l"/>
                      <a:r>
                        <a:rPr sz="1800" b="0">
                          <a:solidFill>
                            <a:srgbClr val="1A1A1A"/>
                          </a:solidFill>
                          <a:latin typeface="Segoe UI"/>
                        </a:rPr>
                        <a:t>Total excluded</a:t>
                      </a:r>
                    </a:p>
                  </a:txBody>
                  <a:tcPr marL="91440" marR="73152" marT="27432" marB="27432" anchor="ctr">
                    <a:solidFill>
                      <a:srgbClr val="FFFFFF"/>
                    </a:solidFill>
                  </a:tcPr>
                </a:tc>
                <a:tc>
                  <a:txBody>
                    <a:bodyPr/>
                    <a:lstStyle/>
                    <a:p>
                      <a:pPr algn="ctr"/>
                      <a:r>
                        <a:rPr sz="1800" b="0">
                          <a:solidFill>
                            <a:srgbClr val="1A1A1A"/>
                          </a:solidFill>
                          <a:latin typeface="Segoe UI"/>
                        </a:rPr>
                        <a:t>10</a:t>
                      </a:r>
                    </a:p>
                  </a:txBody>
                  <a:tcPr marL="91440" marR="73152" marT="27432" marB="27432" anchor="ctr">
                    <a:solidFill>
                      <a:srgbClr val="FFFFFF"/>
                    </a:solidFill>
                  </a:tcPr>
                </a:tc>
                <a:tc>
                  <a:txBody>
                    <a:bodyPr/>
                    <a:lstStyle/>
                    <a:p>
                      <a:pPr algn="ctr"/>
                      <a:r>
                        <a:rPr sz="1800" b="0">
                          <a:solidFill>
                            <a:srgbClr val="1A1A1A"/>
                          </a:solidFill>
                          <a:latin typeface="Segoe UI"/>
                        </a:rPr>
                        <a:t>4</a:t>
                      </a:r>
                    </a:p>
                  </a:txBody>
                  <a:tcPr marL="91440" marR="73152" marT="27432" marB="27432" anchor="ctr">
                    <a:solidFill>
                      <a:srgbClr val="FFFFFF"/>
                    </a:solidFill>
                  </a:tcPr>
                </a:tc>
                <a:tc>
                  <a:txBody>
                    <a:bodyPr/>
                    <a:lstStyle/>
                    <a:p>
                      <a:pPr algn="ctr"/>
                      <a:r>
                        <a:rPr sz="1800" b="0">
                          <a:solidFill>
                            <a:srgbClr val="1A1A1A"/>
                          </a:solidFill>
                          <a:latin typeface="Segoe UI"/>
                        </a:rPr>
                        <a:t>12</a:t>
                      </a:r>
                    </a:p>
                  </a:txBody>
                  <a:tcPr marL="91440" marR="73152" marT="27432" marB="27432" anchor="ctr">
                    <a:solidFill>
                      <a:srgbClr val="FFFFFF"/>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B4. ANCOVA with analyzed N2 duration as covariate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40" cy="2011680"/>
        </p:xfrm>
        <a:graphic>
          <a:graphicData uri="http://schemas.openxmlformats.org/drawingml/2006/table">
            <a:tbl>
              <a:tblPr firstRow="1" bandRow="1">
                <a:tableStyleId>{5C22544A-7EE6-4342-B048-85BDC9FD1C3A}</a:tableStyleId>
              </a:tblPr>
              <a:tblGrid>
                <a:gridCol w="2743200"/>
                <a:gridCol w="2011680"/>
                <a:gridCol w="1737360"/>
                <a:gridCol w="1920240"/>
                <a:gridCol w="2651760"/>
              </a:tblGrid>
              <a:tr h="502920">
                <a:tc>
                  <a:txBody>
                    <a:bodyPr/>
                    <a:lstStyle/>
                    <a:p>
                      <a:pPr algn="l"/>
                      <a:r>
                        <a:rPr sz="1700" b="1">
                          <a:solidFill>
                            <a:srgbClr val="FFFFFF"/>
                          </a:solidFill>
                          <a:latin typeface="Segoe UI"/>
                        </a:rPr>
                        <a:t>Parameter</a:t>
                      </a:r>
                    </a:p>
                  </a:txBody>
                  <a:tcPr marL="91440" marR="73152" marT="27432" marB="27432" anchor="ctr">
                    <a:solidFill>
                      <a:srgbClr val="1F3A5F"/>
                    </a:solidFill>
                  </a:tcPr>
                </a:tc>
                <a:tc>
                  <a:txBody>
                    <a:bodyPr/>
                    <a:lstStyle/>
                    <a:p>
                      <a:pPr algn="ctr"/>
                      <a:r>
                        <a:rPr sz="1700" b="1">
                          <a:solidFill>
                            <a:srgbClr val="FFFFFF"/>
                          </a:solidFill>
                          <a:latin typeface="Segoe UI"/>
                        </a:rPr>
                        <a:t>unadjusted p</a:t>
                      </a:r>
                    </a:p>
                  </a:txBody>
                  <a:tcPr marL="91440" marR="73152" marT="27432" marB="27432" anchor="ctr">
                    <a:solidFill>
                      <a:srgbClr val="1F3A5F"/>
                    </a:solidFill>
                  </a:tcPr>
                </a:tc>
                <a:tc>
                  <a:txBody>
                    <a:bodyPr/>
                    <a:lstStyle/>
                    <a:p>
                      <a:pPr algn="ctr"/>
                      <a:r>
                        <a:rPr sz="1700" b="1">
                          <a:solidFill>
                            <a:srgbClr val="FFFFFF"/>
                          </a:solidFill>
                          <a:latin typeface="Segoe UI"/>
                        </a:rPr>
                        <a:t>group p</a:t>
                      </a:r>
                    </a:p>
                  </a:txBody>
                  <a:tcPr marL="91440" marR="73152" marT="27432" marB="27432" anchor="ctr">
                    <a:solidFill>
                      <a:srgbClr val="1F3A5F"/>
                    </a:solidFill>
                  </a:tcPr>
                </a:tc>
                <a:tc>
                  <a:txBody>
                    <a:bodyPr/>
                    <a:lstStyle/>
                    <a:p>
                      <a:pPr algn="ctr"/>
                      <a:r>
                        <a:rPr sz="1700" b="1">
                          <a:solidFill>
                            <a:srgbClr val="FFFFFF"/>
                          </a:solidFill>
                          <a:latin typeface="Segoe UI"/>
                        </a:rPr>
                        <a:t>covariate p</a:t>
                      </a:r>
                    </a:p>
                  </a:txBody>
                  <a:tcPr marL="91440" marR="73152" marT="27432" marB="27432" anchor="ctr">
                    <a:solidFill>
                      <a:srgbClr val="1F3A5F"/>
                    </a:solidFill>
                  </a:tcPr>
                </a:tc>
                <a:tc>
                  <a:txBody>
                    <a:bodyPr/>
                    <a:lstStyle/>
                    <a:p>
                      <a:pPr algn="ctr"/>
                      <a:r>
                        <a:rPr sz="1700" b="1">
                          <a:solidFill>
                            <a:srgbClr val="FFFFFF"/>
                          </a:solidFill>
                          <a:latin typeface="Segoe UI"/>
                        </a:rPr>
                        <a:t>verdict</a:t>
                      </a:r>
                    </a:p>
                  </a:txBody>
                  <a:tcPr marL="91440" marR="73152" marT="27432" marB="27432" anchor="ctr">
                    <a:solidFill>
                      <a:srgbClr val="1F3A5F"/>
                    </a:solidFill>
                  </a:tcPr>
                </a:tc>
              </a:tr>
              <a:tr h="502920">
                <a:tc>
                  <a:txBody>
                    <a:bodyPr/>
                    <a:lstStyle/>
                    <a:p>
                      <a:pPr algn="l"/>
                      <a:r>
                        <a:rPr sz="1700" b="0">
                          <a:solidFill>
                            <a:srgbClr val="1A1A1A"/>
                          </a:solidFill>
                          <a:latin typeface="Segoe UI"/>
                        </a:rPr>
                        <a:t>Peak frequency</a:t>
                      </a:r>
                    </a:p>
                  </a:txBody>
                  <a:tcPr marL="91440" marR="73152" marT="27432" marB="27432" anchor="ctr">
                    <a:solidFill>
                      <a:srgbClr val="FFFFFF"/>
                    </a:solidFill>
                  </a:tcPr>
                </a:tc>
                <a:tc>
                  <a:txBody>
                    <a:bodyPr/>
                    <a:lstStyle/>
                    <a:p>
                      <a:pPr algn="ctr"/>
                      <a:r>
                        <a:rPr sz="1700" b="0">
                          <a:solidFill>
                            <a:srgbClr val="1A1A1A"/>
                          </a:solidFill>
                          <a:latin typeface="Segoe UI"/>
                        </a:rPr>
                        <a:t>0.0026</a:t>
                      </a:r>
                    </a:p>
                  </a:txBody>
                  <a:tcPr marL="91440" marR="73152" marT="27432" marB="27432" anchor="ctr">
                    <a:solidFill>
                      <a:srgbClr val="FFFFFF"/>
                    </a:solidFill>
                  </a:tcPr>
                </a:tc>
                <a:tc>
                  <a:txBody>
                    <a:bodyPr/>
                    <a:lstStyle/>
                    <a:p>
                      <a:pPr algn="ctr"/>
                      <a:r>
                        <a:rPr sz="1700" b="0">
                          <a:solidFill>
                            <a:srgbClr val="1A1A1A"/>
                          </a:solidFill>
                          <a:latin typeface="Segoe UI"/>
                        </a:rPr>
                        <a:t>0.0034</a:t>
                      </a:r>
                    </a:p>
                  </a:txBody>
                  <a:tcPr marL="91440" marR="73152" marT="27432" marB="27432" anchor="ctr">
                    <a:solidFill>
                      <a:srgbClr val="FFFFFF"/>
                    </a:solidFill>
                  </a:tcPr>
                </a:tc>
                <a:tc>
                  <a:txBody>
                    <a:bodyPr/>
                    <a:lstStyle/>
                    <a:p>
                      <a:pPr algn="ctr"/>
                      <a:r>
                        <a:rPr sz="1700" b="0">
                          <a:solidFill>
                            <a:srgbClr val="1A1A1A"/>
                          </a:solidFill>
                          <a:latin typeface="Segoe UI"/>
                        </a:rPr>
                        <a:t>0.94</a:t>
                      </a:r>
                    </a:p>
                  </a:txBody>
                  <a:tcPr marL="91440" marR="73152" marT="27432" marB="27432" anchor="ctr">
                    <a:solidFill>
                      <a:srgbClr val="FFFFFF"/>
                    </a:solidFill>
                  </a:tcPr>
                </a:tc>
                <a:tc>
                  <a:txBody>
                    <a:bodyPr/>
                    <a:lstStyle/>
                    <a:p>
                      <a:pPr algn="ctr"/>
                      <a:r>
                        <a:rPr sz="1700" b="0">
                          <a:solidFill>
                            <a:srgbClr val="1A1A1A"/>
                          </a:solidFill>
                          <a:latin typeface="Segoe UI"/>
                        </a:rPr>
                        <a:t>group effect survives</a:t>
                      </a:r>
                    </a:p>
                  </a:txBody>
                  <a:tcPr marL="91440" marR="73152" marT="27432" marB="27432" anchor="ctr">
                    <a:solidFill>
                      <a:srgbClr val="FFFFFF"/>
                    </a:solidFill>
                  </a:tcPr>
                </a:tc>
              </a:tr>
              <a:tr h="502920">
                <a:tc>
                  <a:txBody>
                    <a:bodyPr/>
                    <a:lstStyle/>
                    <a:p>
                      <a:pPr algn="l"/>
                      <a:r>
                        <a:rPr sz="1700" b="0">
                          <a:solidFill>
                            <a:srgbClr val="1A1A1A"/>
                          </a:solidFill>
                          <a:latin typeface="Segoe UI"/>
                        </a:rPr>
                        <a:t>Bandwidth</a:t>
                      </a:r>
                    </a:p>
                  </a:txBody>
                  <a:tcPr marL="91440" marR="73152" marT="27432" marB="27432" anchor="ctr">
                    <a:solidFill>
                      <a:srgbClr val="F2F5F8"/>
                    </a:solidFill>
                  </a:tcPr>
                </a:tc>
                <a:tc>
                  <a:txBody>
                    <a:bodyPr/>
                    <a:lstStyle/>
                    <a:p>
                      <a:pPr algn="ctr"/>
                      <a:r>
                        <a:rPr sz="1700" b="0">
                          <a:solidFill>
                            <a:srgbClr val="1A1A1A"/>
                          </a:solidFill>
                          <a:latin typeface="Segoe UI"/>
                        </a:rPr>
                        <a:t>0.061</a:t>
                      </a:r>
                    </a:p>
                  </a:txBody>
                  <a:tcPr marL="91440" marR="73152" marT="27432" marB="27432" anchor="ctr">
                    <a:solidFill>
                      <a:srgbClr val="F2F5F8"/>
                    </a:solidFill>
                  </a:tcPr>
                </a:tc>
                <a:tc>
                  <a:txBody>
                    <a:bodyPr/>
                    <a:lstStyle/>
                    <a:p>
                      <a:pPr algn="ctr"/>
                      <a:r>
                        <a:rPr sz="1700" b="0">
                          <a:solidFill>
                            <a:srgbClr val="1A1A1A"/>
                          </a:solidFill>
                          <a:latin typeface="Segoe UI"/>
                        </a:rPr>
                        <a:t>0.206</a:t>
                      </a:r>
                    </a:p>
                  </a:txBody>
                  <a:tcPr marL="91440" marR="73152" marT="27432" marB="27432" anchor="ctr">
                    <a:solidFill>
                      <a:srgbClr val="F2F5F8"/>
                    </a:solidFill>
                  </a:tcPr>
                </a:tc>
                <a:tc>
                  <a:txBody>
                    <a:bodyPr/>
                    <a:lstStyle/>
                    <a:p>
                      <a:pPr algn="ctr"/>
                      <a:r>
                        <a:rPr sz="1700" b="0">
                          <a:solidFill>
                            <a:srgbClr val="1A1A1A"/>
                          </a:solidFill>
                          <a:latin typeface="Segoe UI"/>
                        </a:rPr>
                        <a:t>0.0002</a:t>
                      </a:r>
                    </a:p>
                  </a:txBody>
                  <a:tcPr marL="91440" marR="73152" marT="27432" marB="27432" anchor="ctr">
                    <a:solidFill>
                      <a:srgbClr val="F2F5F8"/>
                    </a:solidFill>
                  </a:tcPr>
                </a:tc>
                <a:tc>
                  <a:txBody>
                    <a:bodyPr/>
                    <a:lstStyle/>
                    <a:p>
                      <a:pPr algn="ctr"/>
                      <a:r>
                        <a:rPr sz="1700" b="0">
                          <a:solidFill>
                            <a:srgbClr val="1A1A1A"/>
                          </a:solidFill>
                          <a:latin typeface="Segoe UI"/>
                        </a:rPr>
                        <a:t>duration, not group</a:t>
                      </a:r>
                    </a:p>
                  </a:txBody>
                  <a:tcPr marL="91440" marR="73152" marT="27432" marB="27432" anchor="ctr">
                    <a:solidFill>
                      <a:srgbClr val="F2F5F8"/>
                    </a:solidFill>
                  </a:tcPr>
                </a:tc>
              </a:tr>
              <a:tr h="502920">
                <a:tc>
                  <a:txBody>
                    <a:bodyPr/>
                    <a:lstStyle/>
                    <a:p>
                      <a:pPr algn="l"/>
                      <a:r>
                        <a:rPr sz="1700" b="0">
                          <a:solidFill>
                            <a:srgbClr val="1A1A1A"/>
                          </a:solidFill>
                          <a:latin typeface="Segoe UI"/>
                        </a:rPr>
                        <a:t>AUC (whole scalp)</a:t>
                      </a:r>
                    </a:p>
                  </a:txBody>
                  <a:tcPr marL="91440" marR="73152" marT="27432" marB="27432" anchor="ctr">
                    <a:solidFill>
                      <a:srgbClr val="FFFFFF"/>
                    </a:solidFill>
                  </a:tcPr>
                </a:tc>
                <a:tc>
                  <a:txBody>
                    <a:bodyPr/>
                    <a:lstStyle/>
                    <a:p>
                      <a:pPr algn="ctr"/>
                      <a:r>
                        <a:rPr sz="1700" b="0">
                          <a:solidFill>
                            <a:srgbClr val="1A1A1A"/>
                          </a:solidFill>
                          <a:latin typeface="Segoe UI"/>
                        </a:rPr>
                        <a:t>0.38</a:t>
                      </a:r>
                    </a:p>
                  </a:txBody>
                  <a:tcPr marL="91440" marR="73152" marT="27432" marB="27432" anchor="ctr">
                    <a:solidFill>
                      <a:srgbClr val="FFFFFF"/>
                    </a:solidFill>
                  </a:tcPr>
                </a:tc>
                <a:tc>
                  <a:txBody>
                    <a:bodyPr/>
                    <a:lstStyle/>
                    <a:p>
                      <a:pPr algn="ctr"/>
                      <a:r>
                        <a:rPr sz="1700" b="0">
                          <a:solidFill>
                            <a:srgbClr val="1A1A1A"/>
                          </a:solidFill>
                          <a:latin typeface="Segoe UI"/>
                        </a:rPr>
                        <a:t>0.45</a:t>
                      </a:r>
                    </a:p>
                  </a:txBody>
                  <a:tcPr marL="91440" marR="73152" marT="27432" marB="27432" anchor="ctr">
                    <a:solidFill>
                      <a:srgbClr val="FFFFFF"/>
                    </a:solidFill>
                  </a:tcPr>
                </a:tc>
                <a:tc>
                  <a:txBody>
                    <a:bodyPr/>
                    <a:lstStyle/>
                    <a:p>
                      <a:pPr algn="ctr"/>
                      <a:r>
                        <a:rPr sz="1700" b="0">
                          <a:solidFill>
                            <a:srgbClr val="1A1A1A"/>
                          </a:solidFill>
                          <a:latin typeface="Segoe UI"/>
                        </a:rPr>
                        <a:t>0.49</a:t>
                      </a:r>
                    </a:p>
                  </a:txBody>
                  <a:tcPr marL="91440" marR="73152" marT="27432" marB="27432" anchor="ctr">
                    <a:solidFill>
                      <a:srgbClr val="FFFFFF"/>
                    </a:solidFill>
                  </a:tcPr>
                </a:tc>
                <a:tc>
                  <a:txBody>
                    <a:bodyPr/>
                    <a:lstStyle/>
                    <a:p>
                      <a:pPr algn="ctr"/>
                      <a:r>
                        <a:rPr sz="1700" b="0">
                          <a:solidFill>
                            <a:srgbClr val="1A1A1A"/>
                          </a:solidFill>
                          <a:latin typeface="Segoe UI"/>
                        </a:rPr>
                        <a:t>no effect either way</a:t>
                      </a:r>
                    </a:p>
                  </a:txBody>
                  <a:tcPr marL="91440" marR="73152" marT="27432" marB="27432" anchor="ctr">
                    <a:solidFill>
                      <a:srgbClr val="FFFFFF"/>
                    </a:solidFill>
                  </a:tcPr>
                </a:tc>
              </a:tr>
            </a:tbl>
          </a:graphicData>
        </a:graphic>
      </p:graphicFrame>
      <p:sp>
        <p:nvSpPr>
          <p:cNvPr id="5" name="TextBox 4"/>
          <p:cNvSpPr txBox="1"/>
          <p:nvPr/>
        </p:nvSpPr>
        <p:spPr>
          <a:xfrm>
            <a:off x="777240" y="3611880"/>
            <a:ext cx="10698480" cy="2697480"/>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Covariate mean-centred at the cohort grand mean of 93.1 min; N = 104, residual df = 100</a:t>
            </a:r>
          </a:p>
          <a:p>
            <a:pPr algn="l" marL="274320" indent="-274320">
              <a:lnSpc>
                <a:spcPct val="102000"/>
              </a:lnSpc>
              <a:spcAft>
                <a:spcPts val="1300"/>
              </a:spcAft>
              <a:buFont typeface="Arial"/>
              <a:buChar char="▪"/>
            </a:pPr>
            <a:r>
              <a:rPr sz="1600" b="0" i="0">
                <a:solidFill>
                  <a:srgbClr val="1A1A1A"/>
                </a:solidFill>
                <a:latin typeface="Segoe UI"/>
              </a:rPr>
              <a:t>Peak frequency: partial eta squared 0.108 for group, 0.0001 for the covariate; adjusted means identical to raw means</a:t>
            </a:r>
          </a:p>
          <a:p>
            <a:pPr algn="l" marL="274320" indent="-274320">
              <a:lnSpc>
                <a:spcPct val="102000"/>
              </a:lnSpc>
              <a:spcAft>
                <a:spcPts val="1300"/>
              </a:spcAft>
              <a:buFont typeface="Arial"/>
              <a:buChar char="▪"/>
            </a:pPr>
            <a:r>
              <a:rPr sz="1600" b="0" i="0">
                <a:solidFill>
                  <a:srgbClr val="1A1A1A"/>
                </a:solidFill>
                <a:latin typeface="Segoe UI"/>
              </a:rPr>
              <a:t>Bandwidth: partial eta squared 0.128 for the covariate against 0.031 for group</a:t>
            </a:r>
          </a:p>
          <a:p>
            <a:pPr algn="l" marL="274320" indent="-274320">
              <a:lnSpc>
                <a:spcPct val="102000"/>
              </a:lnSpc>
              <a:spcAft>
                <a:spcPts val="1300"/>
              </a:spcAft>
              <a:buFont typeface="Arial"/>
              <a:buChar char="▪"/>
            </a:pPr>
            <a:r>
              <a:rPr sz="1600" b="0" i="0">
                <a:solidFill>
                  <a:srgbClr val="1A1A1A"/>
                </a:solidFill>
                <a:latin typeface="Segoe UI"/>
              </a:rPr>
              <a:t>Homogeneity of regression slopes held for all three parameters (p &gt;= 0.11)</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B5. The cluster, electrode by electrode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Mean F = 5.15, max F = 10.62 across the cluster. Post-hoc tests are Tukey-Kramer at each cluster electrode.</a:t>
            </a:r>
          </a:p>
        </p:txBody>
      </p:sp>
      <p:graphicFrame>
        <p:nvGraphicFramePr>
          <p:cNvPr id="5" name="Table 4"/>
          <p:cNvGraphicFramePr>
            <a:graphicFrameLocks noGrp="1"/>
          </p:cNvGraphicFramePr>
          <p:nvPr/>
        </p:nvGraphicFramePr>
        <p:xfrm>
          <a:off x="609447" y="2057400"/>
          <a:ext cx="10972800" cy="2514600"/>
        </p:xfrm>
        <a:graphic>
          <a:graphicData uri="http://schemas.openxmlformats.org/drawingml/2006/table">
            <a:tbl>
              <a:tblPr firstRow="1" bandRow="1">
                <a:tableStyleId>{5C22544A-7EE6-4342-B048-85BDC9FD1C3A}</a:tableStyleId>
              </a:tblPr>
              <a:tblGrid>
                <a:gridCol w="3291840"/>
                <a:gridCol w="822960"/>
                <a:gridCol w="6858000"/>
              </a:tblGrid>
              <a:tr h="502920">
                <a:tc>
                  <a:txBody>
                    <a:bodyPr/>
                    <a:lstStyle/>
                    <a:p>
                      <a:pPr algn="l"/>
                    </a:p>
                  </a:txBody>
                  <a:tcPr marL="91440" marR="73152" marT="27432" marB="27432" anchor="ctr">
                    <a:solidFill>
                      <a:srgbClr val="1F3A5F"/>
                    </a:solidFill>
                  </a:tcPr>
                </a:tc>
                <a:tc>
                  <a:txBody>
                    <a:bodyPr/>
                    <a:lstStyle/>
                    <a:p>
                      <a:pPr algn="ctr"/>
                      <a:r>
                        <a:rPr sz="1500" b="1">
                          <a:solidFill>
                            <a:srgbClr val="FFFFFF"/>
                          </a:solidFill>
                          <a:latin typeface="Segoe UI"/>
                        </a:rPr>
                        <a:t>n</a:t>
                      </a:r>
                    </a:p>
                  </a:txBody>
                  <a:tcPr marL="91440" marR="73152" marT="27432" marB="27432" anchor="ctr">
                    <a:solidFill>
                      <a:srgbClr val="1F3A5F"/>
                    </a:solidFill>
                  </a:tcPr>
                </a:tc>
                <a:tc>
                  <a:txBody>
                    <a:bodyPr/>
                    <a:lstStyle/>
                    <a:p>
                      <a:pPr algn="ctr"/>
                      <a:r>
                        <a:rPr sz="1500" b="1">
                          <a:solidFill>
                            <a:srgbClr val="FFFFFF"/>
                          </a:solidFill>
                          <a:latin typeface="Segoe UI"/>
                        </a:rPr>
                        <a:t>electrodes</a:t>
                      </a:r>
                    </a:p>
                  </a:txBody>
                  <a:tcPr marL="91440" marR="73152" marT="27432" marB="27432" anchor="ctr">
                    <a:solidFill>
                      <a:srgbClr val="1F3A5F"/>
                    </a:solidFill>
                  </a:tcPr>
                </a:tc>
              </a:tr>
              <a:tr h="502920">
                <a:tc>
                  <a:txBody>
                    <a:bodyPr/>
                    <a:lstStyle/>
                    <a:p>
                      <a:pPr algn="l"/>
                      <a:r>
                        <a:rPr sz="1500" b="0">
                          <a:solidFill>
                            <a:srgbClr val="1A1A1A"/>
                          </a:solidFill>
                          <a:latin typeface="Segoe UI"/>
                        </a:rPr>
                        <a:t>Cluster (F test), p = 0.023</a:t>
                      </a:r>
                    </a:p>
                  </a:txBody>
                  <a:tcPr marL="91440" marR="73152" marT="27432" marB="27432" anchor="ctr">
                    <a:solidFill>
                      <a:srgbClr val="FFFFFF"/>
                    </a:solidFill>
                  </a:tcPr>
                </a:tc>
                <a:tc>
                  <a:txBody>
                    <a:bodyPr/>
                    <a:lstStyle/>
                    <a:p>
                      <a:pPr algn="ctr"/>
                      <a:r>
                        <a:rPr sz="1500" b="0">
                          <a:solidFill>
                            <a:srgbClr val="1A1A1A"/>
                          </a:solidFill>
                          <a:latin typeface="Segoe UI"/>
                        </a:rPr>
                        <a:t>9</a:t>
                      </a:r>
                    </a:p>
                  </a:txBody>
                  <a:tcPr marL="91440" marR="73152" marT="27432" marB="27432" anchor="ctr">
                    <a:solidFill>
                      <a:srgbClr val="FFFFFF"/>
                    </a:solidFill>
                  </a:tcPr>
                </a:tc>
                <a:tc>
                  <a:txBody>
                    <a:bodyPr/>
                    <a:lstStyle/>
                    <a:p>
                      <a:pPr algn="ctr"/>
                      <a:r>
                        <a:rPr sz="1500" b="0">
                          <a:solidFill>
                            <a:srgbClr val="1A1A1A"/>
                          </a:solidFill>
                          <a:latin typeface="Segoe UI"/>
                        </a:rPr>
                        <a:t>E130, E143, E144, E153, E154, E155, E184, E185, E197</a:t>
                      </a:r>
                    </a:p>
                  </a:txBody>
                  <a:tcPr marL="91440" marR="73152" marT="27432" marB="27432" anchor="ctr">
                    <a:solidFill>
                      <a:srgbClr val="FFFFFF"/>
                    </a:solidFill>
                  </a:tcPr>
                </a:tc>
              </a:tr>
              <a:tr h="502920">
                <a:tc>
                  <a:txBody>
                    <a:bodyPr/>
                    <a:lstStyle/>
                    <a:p>
                      <a:pPr algn="l"/>
                      <a:r>
                        <a:rPr sz="1500" b="0">
                          <a:solidFill>
                            <a:srgbClr val="1A1A1A"/>
                          </a:solidFill>
                          <a:latin typeface="Segoe UI"/>
                        </a:rPr>
                        <a:t>Young vs Elderly</a:t>
                      </a:r>
                    </a:p>
                  </a:txBody>
                  <a:tcPr marL="91440" marR="73152" marT="27432" marB="27432" anchor="ctr">
                    <a:solidFill>
                      <a:srgbClr val="F2F5F8"/>
                    </a:solidFill>
                  </a:tcPr>
                </a:tc>
                <a:tc>
                  <a:txBody>
                    <a:bodyPr/>
                    <a:lstStyle/>
                    <a:p>
                      <a:pPr algn="ctr"/>
                      <a:r>
                        <a:rPr sz="1500" b="0">
                          <a:solidFill>
                            <a:srgbClr val="1A1A1A"/>
                          </a:solidFill>
                          <a:latin typeface="Segoe UI"/>
                        </a:rPr>
                        <a:t>5</a:t>
                      </a:r>
                    </a:p>
                  </a:txBody>
                  <a:tcPr marL="91440" marR="73152" marT="27432" marB="27432" anchor="ctr">
                    <a:solidFill>
                      <a:srgbClr val="F2F5F8"/>
                    </a:solidFill>
                  </a:tcPr>
                </a:tc>
                <a:tc>
                  <a:txBody>
                    <a:bodyPr/>
                    <a:lstStyle/>
                    <a:p>
                      <a:pPr algn="ctr"/>
                      <a:r>
                        <a:rPr sz="1500" b="0">
                          <a:solidFill>
                            <a:srgbClr val="1A1A1A"/>
                          </a:solidFill>
                          <a:latin typeface="Segoe UI"/>
                        </a:rPr>
                        <a:t>E143, E144, E154, E155, E184</a:t>
                      </a:r>
                    </a:p>
                  </a:txBody>
                  <a:tcPr marL="91440" marR="73152" marT="27432" marB="27432" anchor="ctr">
                    <a:solidFill>
                      <a:srgbClr val="F2F5F8"/>
                    </a:solidFill>
                  </a:tcPr>
                </a:tc>
              </a:tr>
              <a:tr h="502920">
                <a:tc>
                  <a:txBody>
                    <a:bodyPr/>
                    <a:lstStyle/>
                    <a:p>
                      <a:pPr algn="l"/>
                      <a:r>
                        <a:rPr sz="1500" b="0">
                          <a:solidFill>
                            <a:srgbClr val="1A1A1A"/>
                          </a:solidFill>
                          <a:latin typeface="Segoe UI"/>
                        </a:rPr>
                        <a:t>Young vs aMCI</a:t>
                      </a:r>
                    </a:p>
                  </a:txBody>
                  <a:tcPr marL="91440" marR="73152" marT="27432" marB="27432" anchor="ctr">
                    <a:solidFill>
                      <a:srgbClr val="FFFFFF"/>
                    </a:solidFill>
                  </a:tcPr>
                </a:tc>
                <a:tc>
                  <a:txBody>
                    <a:bodyPr/>
                    <a:lstStyle/>
                    <a:p>
                      <a:pPr algn="ctr"/>
                      <a:r>
                        <a:rPr sz="1500" b="0">
                          <a:solidFill>
                            <a:srgbClr val="1A1A1A"/>
                          </a:solidFill>
                          <a:latin typeface="Segoe UI"/>
                        </a:rPr>
                        <a:t>7</a:t>
                      </a:r>
                    </a:p>
                  </a:txBody>
                  <a:tcPr marL="91440" marR="73152" marT="27432" marB="27432" anchor="ctr">
                    <a:solidFill>
                      <a:srgbClr val="FFFFFF"/>
                    </a:solidFill>
                  </a:tcPr>
                </a:tc>
                <a:tc>
                  <a:txBody>
                    <a:bodyPr/>
                    <a:lstStyle/>
                    <a:p>
                      <a:pPr algn="ctr"/>
                      <a:r>
                        <a:rPr sz="1500" b="0">
                          <a:solidFill>
                            <a:srgbClr val="1A1A1A"/>
                          </a:solidFill>
                          <a:latin typeface="Segoe UI"/>
                        </a:rPr>
                        <a:t>E143, E144, E153, E155, E184, E185, E197</a:t>
                      </a:r>
                    </a:p>
                  </a:txBody>
                  <a:tcPr marL="91440" marR="73152" marT="27432" marB="27432" anchor="ctr">
                    <a:solidFill>
                      <a:srgbClr val="FFFFFF"/>
                    </a:solidFill>
                  </a:tcPr>
                </a:tc>
              </a:tr>
              <a:tr h="502920">
                <a:tc>
                  <a:txBody>
                    <a:bodyPr/>
                    <a:lstStyle/>
                    <a:p>
                      <a:pPr algn="l"/>
                      <a:r>
                        <a:rPr sz="1500" b="0">
                          <a:solidFill>
                            <a:srgbClr val="1A1A1A"/>
                          </a:solidFill>
                          <a:latin typeface="Segoe UI"/>
                        </a:rPr>
                        <a:t>Elderly vs aMCI</a:t>
                      </a:r>
                    </a:p>
                  </a:txBody>
                  <a:tcPr marL="91440" marR="73152" marT="27432" marB="27432" anchor="ctr">
                    <a:solidFill>
                      <a:srgbClr val="F2F5F8"/>
                    </a:solidFill>
                  </a:tcPr>
                </a:tc>
                <a:tc>
                  <a:txBody>
                    <a:bodyPr/>
                    <a:lstStyle/>
                    <a:p>
                      <a:pPr algn="ctr"/>
                      <a:r>
                        <a:rPr sz="1500" b="0">
                          <a:solidFill>
                            <a:srgbClr val="1A1A1A"/>
                          </a:solidFill>
                          <a:latin typeface="Segoe UI"/>
                        </a:rPr>
                        <a:t>1</a:t>
                      </a:r>
                    </a:p>
                  </a:txBody>
                  <a:tcPr marL="91440" marR="73152" marT="27432" marB="27432" anchor="ctr">
                    <a:solidFill>
                      <a:srgbClr val="F2F5F8"/>
                    </a:solidFill>
                  </a:tcPr>
                </a:tc>
                <a:tc>
                  <a:txBody>
                    <a:bodyPr/>
                    <a:lstStyle/>
                    <a:p>
                      <a:pPr algn="ctr"/>
                      <a:r>
                        <a:rPr sz="1500" b="0">
                          <a:solidFill>
                            <a:srgbClr val="1A1A1A"/>
                          </a:solidFill>
                          <a:latin typeface="Segoe UI"/>
                        </a:rPr>
                        <a:t>E197</a:t>
                      </a:r>
                    </a:p>
                  </a:txBody>
                  <a:tcPr marL="91440" marR="73152" marT="27432" marB="27432" anchor="ctr">
                    <a:solidFill>
                      <a:srgbClr val="F2F5F8"/>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B6. Bandwidth against analyzed N2 duration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r = +0.386 across all 104 participants. This is why the bandwidth difference is not read as an effect of age.</a:t>
            </a:r>
          </a:p>
        </p:txBody>
      </p:sp>
      <p:pic>
        <p:nvPicPr>
          <p:cNvPr id="5" name="Picture 4" descr="bandwidth_vs_n2_duration.png"/>
          <p:cNvPicPr>
            <a:picLocks noChangeAspect="1"/>
          </p:cNvPicPr>
          <p:nvPr/>
        </p:nvPicPr>
        <p:blipFill>
          <a:blip r:embed="rId2"/>
          <a:stretch>
            <a:fillRect/>
          </a:stretch>
        </p:blipFill>
        <p:spPr>
          <a:xfrm>
            <a:off x="3171340" y="1874519"/>
            <a:ext cx="5864558" cy="393192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B7. Feature extraction, in detail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Gabor-Morlet wavelets, 13.0 to 16.0 Hz in 0.2 Hz steps, fixed width of 4 cycles, applied as frequency-domain convolution via FFT</a:t>
            </a:r>
          </a:p>
          <a:p>
            <a:pPr algn="l" marL="274320" indent="-274320">
              <a:lnSpc>
                <a:spcPct val="102000"/>
              </a:lnSpc>
              <a:spcAft>
                <a:spcPts val="1300"/>
              </a:spcAft>
              <a:buFont typeface="Arial"/>
              <a:buChar char="▪"/>
            </a:pPr>
            <a:r>
              <a:rPr sz="2000" b="0" i="0">
                <a:solidFill>
                  <a:srgbClr val="1A1A1A"/>
                </a:solidFill>
                <a:latin typeface="Segoe UI"/>
              </a:rPr>
              <a:t>Envelope = mean magnitude of the complex coefficients across those wavelet frequencies</a:t>
            </a:r>
          </a:p>
          <a:p>
            <a:pPr algn="l" marL="274320" indent="-274320">
              <a:lnSpc>
                <a:spcPct val="102000"/>
              </a:lnSpc>
              <a:spcAft>
                <a:spcPts val="1300"/>
              </a:spcAft>
              <a:buFont typeface="Arial"/>
              <a:buChar char="▪"/>
            </a:pPr>
            <a:r>
              <a:rPr sz="2000" b="0" i="0">
                <a:solidFill>
                  <a:srgbClr val="1A1A1A"/>
                </a:solidFill>
                <a:latin typeface="Segoe UI"/>
              </a:rPr>
              <a:t>Per bout: subtract the envelope mean, FFT, take the squared magnitude, resample onto a common frequency axis, divide by the bout's own mean power</a:t>
            </a:r>
          </a:p>
          <a:p>
            <a:pPr algn="l" marL="274320" indent="-274320">
              <a:lnSpc>
                <a:spcPct val="102000"/>
              </a:lnSpc>
              <a:spcAft>
                <a:spcPts val="1300"/>
              </a:spcAft>
              <a:buFont typeface="Arial"/>
              <a:buChar char="▪"/>
            </a:pPr>
            <a:r>
              <a:rPr sz="2000" b="0" i="0">
                <a:solidFill>
                  <a:srgbClr val="1A1A1A"/>
                </a:solidFill>
                <a:latin typeface="Segoe UI"/>
              </a:rPr>
              <a:t>If the spectral maximum fell in the lowest bins (0 to 0.006 Hz), those bins were discarded as residual drift</a:t>
            </a:r>
          </a:p>
          <a:p>
            <a:pPr algn="l" marL="274320" indent="-274320">
              <a:lnSpc>
                <a:spcPct val="102000"/>
              </a:lnSpc>
              <a:spcAft>
                <a:spcPts val="1300"/>
              </a:spcAft>
              <a:buFont typeface="Arial"/>
              <a:buChar char="▪"/>
            </a:pPr>
            <a:r>
              <a:rPr sz="2000" b="0" i="0">
                <a:solidFill>
                  <a:srgbClr val="1A1A1A"/>
                </a:solidFill>
                <a:latin typeface="Segoe UI"/>
              </a:rPr>
              <a:t>Baseline subtracted from the channel-mean spectrum, estimated over 0.06 to 0.10 Hz</a:t>
            </a:r>
          </a:p>
          <a:p>
            <a:pPr algn="l" marL="274320" indent="-274320">
              <a:lnSpc>
                <a:spcPct val="102000"/>
              </a:lnSpc>
              <a:spcAft>
                <a:spcPts val="1300"/>
              </a:spcAft>
              <a:buFont typeface="Arial"/>
              <a:buChar char="▪"/>
            </a:pPr>
            <a:r>
              <a:rPr sz="2000" b="0" i="0">
                <a:solidFill>
                  <a:srgbClr val="1A1A1A"/>
                </a:solidFill>
                <a:latin typeface="Segoe UI"/>
              </a:rPr>
              <a:t>Gaussian a·exp(-((f-b)/c)^2) by nonlinear least squares; bandwidth is the width of b ± |c|, AUC the integral over that band</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B8. Detection rates, and what a failed fit means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Valid Gaussian fit in 80.8 % of channels overall: 74.5 % young, 85.6 % elderly, 82.0 % aMCI</a:t>
            </a:r>
          </a:p>
          <a:p>
            <a:pPr algn="l" marL="274320" indent="-274320">
              <a:lnSpc>
                <a:spcPct val="102000"/>
              </a:lnSpc>
              <a:spcAft>
                <a:spcPts val="1300"/>
              </a:spcAft>
              <a:buFont typeface="Arial"/>
              <a:buChar char="▪"/>
            </a:pPr>
            <a:r>
              <a:rPr sz="2000" b="0" i="0">
                <a:solidFill>
                  <a:srgbClr val="1A1A1A"/>
                </a:solidFill>
                <a:latin typeface="Segoe UI"/>
              </a:rPr>
              <a:t>1023 clean N2 bouts entered the analysis, on average 9.8 per participant</a:t>
            </a:r>
          </a:p>
          <a:p>
            <a:pPr algn="l" marL="274320" indent="-274320">
              <a:lnSpc>
                <a:spcPct val="102000"/>
              </a:lnSpc>
              <a:spcAft>
                <a:spcPts val="1300"/>
              </a:spcAft>
              <a:buFont typeface="Arial"/>
              <a:buChar char="▪"/>
            </a:pPr>
            <a:r>
              <a:rPr sz="2000" b="0" i="0">
                <a:solidFill>
                  <a:srgbClr val="1A1A1A"/>
                </a:solidFill>
                <a:latin typeface="Segoe UI"/>
              </a:rPr>
              <a:t>A failure means no peak clearing 1.5 SD inside 0.0075 to 0.04 Hz, or a non-positive integrated area</a:t>
            </a:r>
          </a:p>
          <a:p>
            <a:pPr algn="l" marL="274320" indent="-274320">
              <a:lnSpc>
                <a:spcPct val="102000"/>
              </a:lnSpc>
              <a:spcAft>
                <a:spcPts val="1300"/>
              </a:spcAft>
              <a:buFont typeface="Arial"/>
              <a:buChar char="▪"/>
            </a:pPr>
            <a:r>
              <a:rPr sz="2000" b="0" i="0">
                <a:solidFill>
                  <a:srgbClr val="1A1A1A"/>
                </a:solidFill>
                <a:latin typeface="Segoe UI"/>
              </a:rPr>
              <a:t>Failed channels are left missing, so they neither raise nor lower a participant's mean</a:t>
            </a:r>
          </a:p>
          <a:p>
            <a:pPr algn="l" marL="274320" indent="-274320">
              <a:lnSpc>
                <a:spcPct val="102000"/>
              </a:lnSpc>
              <a:spcAft>
                <a:spcPts val="1300"/>
              </a:spcAft>
              <a:buFont typeface="Arial"/>
              <a:buChar char="▪"/>
            </a:pPr>
            <a:r>
              <a:rPr sz="2000" b="0" i="0">
                <a:solidFill>
                  <a:srgbClr val="1A1A1A"/>
                </a:solidFill>
                <a:latin typeface="Segoe UI"/>
              </a:rPr>
              <a:t>The reference study reports comparable rates on its own criteria; the numbers are not directly comparable because our acceptance rule is slightly stricter</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B9. Was the aMCI group too heterogeneous?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A sensitivity analysis restricting the patient group to purely amnestic cases was run, and then rejected: the full aMCI group (n = 30) is what the thesis reports</a:t>
            </a:r>
          </a:p>
          <a:p>
            <a:pPr algn="l" marL="274320" indent="-274320">
              <a:lnSpc>
                <a:spcPct val="102000"/>
              </a:lnSpc>
              <a:spcAft>
                <a:spcPts val="1300"/>
              </a:spcAft>
              <a:buFont typeface="Arial"/>
              <a:buChar char="▪"/>
            </a:pPr>
            <a:r>
              <a:rPr sz="2000" b="0" i="0">
                <a:solidFill>
                  <a:srgbClr val="1A1A1A"/>
                </a:solidFill>
                <a:latin typeface="Segoe UI"/>
              </a:rPr>
              <a:t>In that run the focal central-parietal AUC cluster survived, the young-versus-patient peak-frequency contrast lost significance at the reduced sample size, and the MoCA nulls were unchanged</a:t>
            </a:r>
          </a:p>
          <a:p>
            <a:pPr algn="l" marL="274320" indent="-274320">
              <a:lnSpc>
                <a:spcPct val="102000"/>
              </a:lnSpc>
              <a:spcAft>
                <a:spcPts val="1300"/>
              </a:spcAft>
              <a:buFont typeface="Arial"/>
              <a:buChar char="▪"/>
            </a:pPr>
            <a:r>
              <a:rPr sz="2000" b="0" i="0">
                <a:solidFill>
                  <a:srgbClr val="1A1A1A"/>
                </a:solidFill>
                <a:latin typeface="Segoe UI"/>
              </a:rPr>
              <a:t>It was run on the pre-final cohort, so its p values are not the numbers of record</a:t>
            </a:r>
          </a:p>
          <a:p>
            <a:pPr algn="l" marL="274320" indent="-274320">
              <a:lnSpc>
                <a:spcPct val="102000"/>
              </a:lnSpc>
              <a:spcAft>
                <a:spcPts val="1300"/>
              </a:spcAft>
              <a:buFont typeface="Arial"/>
              <a:buChar char="▪"/>
            </a:pPr>
            <a:r>
              <a:rPr sz="2000" b="0" i="0">
                <a:solidFill>
                  <a:srgbClr val="1A1A1A"/>
                </a:solidFill>
                <a:latin typeface="Segoe UI"/>
              </a:rPr>
              <a:t>Reported instead in the discussion as a limitation: a mixed group dilutes any disease-specific effect</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B10. Alongside Grollero et al. (2026)</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09447" y="1371600"/>
          <a:ext cx="10972800" cy="3968496"/>
        </p:xfrm>
        <a:graphic>
          <a:graphicData uri="http://schemas.openxmlformats.org/drawingml/2006/table">
            <a:tbl>
              <a:tblPr firstRow="1" bandRow="1">
                <a:tableStyleId>{5C22544A-7EE6-4342-B048-85BDC9FD1C3A}</a:tableStyleId>
              </a:tblPr>
              <a:tblGrid>
                <a:gridCol w="2560320"/>
                <a:gridCol w="4206240"/>
                <a:gridCol w="4206240"/>
              </a:tblGrid>
              <a:tr h="566928">
                <a:tc>
                  <a:txBody>
                    <a:bodyPr/>
                    <a:lstStyle/>
                    <a:p>
                      <a:pPr algn="l"/>
                    </a:p>
                  </a:txBody>
                  <a:tcPr marL="91440" marR="73152" marT="27432" marB="27432" anchor="ctr">
                    <a:solidFill>
                      <a:srgbClr val="1F3A5F"/>
                    </a:solidFill>
                  </a:tcPr>
                </a:tc>
                <a:tc>
                  <a:txBody>
                    <a:bodyPr/>
                    <a:lstStyle/>
                    <a:p>
                      <a:pPr algn="ctr"/>
                      <a:r>
                        <a:rPr sz="1500" b="1">
                          <a:solidFill>
                            <a:srgbClr val="FFFFFF"/>
                          </a:solidFill>
                          <a:latin typeface="Segoe UI"/>
                        </a:rPr>
                        <a:t>This thesis</a:t>
                      </a:r>
                    </a:p>
                  </a:txBody>
                  <a:tcPr marL="91440" marR="73152" marT="27432" marB="27432" anchor="ctr">
                    <a:solidFill>
                      <a:srgbClr val="1F3A5F"/>
                    </a:solidFill>
                  </a:tcPr>
                </a:tc>
                <a:tc>
                  <a:txBody>
                    <a:bodyPr/>
                    <a:lstStyle/>
                    <a:p>
                      <a:pPr algn="ctr"/>
                      <a:r>
                        <a:rPr sz="1500" b="1">
                          <a:solidFill>
                            <a:srgbClr val="FFFFFF"/>
                          </a:solidFill>
                          <a:latin typeface="Segoe UI"/>
                        </a:rPr>
                        <a:t>Grollero et al. 2026</a:t>
                      </a:r>
                    </a:p>
                  </a:txBody>
                  <a:tcPr marL="91440" marR="73152" marT="27432" marB="27432" anchor="ctr">
                    <a:solidFill>
                      <a:srgbClr val="1F3A5F"/>
                    </a:solidFill>
                  </a:tcPr>
                </a:tc>
              </a:tr>
              <a:tr h="566928">
                <a:tc>
                  <a:txBody>
                    <a:bodyPr/>
                    <a:lstStyle/>
                    <a:p>
                      <a:pPr algn="l"/>
                      <a:r>
                        <a:rPr sz="1500" b="0">
                          <a:solidFill>
                            <a:srgbClr val="1A1A1A"/>
                          </a:solidFill>
                          <a:latin typeface="Segoe UI"/>
                        </a:rPr>
                        <a:t>Sample</a:t>
                      </a:r>
                    </a:p>
                  </a:txBody>
                  <a:tcPr marL="91440" marR="73152" marT="27432" marB="27432" anchor="ctr">
                    <a:solidFill>
                      <a:srgbClr val="FFFFFF"/>
                    </a:solidFill>
                  </a:tcPr>
                </a:tc>
                <a:tc>
                  <a:txBody>
                    <a:bodyPr/>
                    <a:lstStyle/>
                    <a:p>
                      <a:pPr algn="ctr"/>
                      <a:r>
                        <a:rPr sz="1500" b="0">
                          <a:solidFill>
                            <a:srgbClr val="1A1A1A"/>
                          </a:solidFill>
                          <a:latin typeface="Segoe UI"/>
                        </a:rPr>
                        <a:t>39 elderly, 30 aMCI, 35 young</a:t>
                      </a:r>
                    </a:p>
                  </a:txBody>
                  <a:tcPr marL="91440" marR="73152" marT="27432" marB="27432" anchor="ctr">
                    <a:solidFill>
                      <a:srgbClr val="FFFFFF"/>
                    </a:solidFill>
                  </a:tcPr>
                </a:tc>
                <a:tc>
                  <a:txBody>
                    <a:bodyPr/>
                    <a:lstStyle/>
                    <a:p>
                      <a:pPr algn="ctr"/>
                      <a:r>
                        <a:rPr sz="1500" b="0">
                          <a:solidFill>
                            <a:srgbClr val="1A1A1A"/>
                          </a:solidFill>
                          <a:latin typeface="Segoe UI"/>
                        </a:rPr>
                        <a:t>10 Alzheimer's disease, 20 age-matched controls</a:t>
                      </a:r>
                    </a:p>
                  </a:txBody>
                  <a:tcPr marL="91440" marR="73152" marT="27432" marB="27432" anchor="ctr">
                    <a:solidFill>
                      <a:srgbClr val="FFFFFF"/>
                    </a:solidFill>
                  </a:tcPr>
                </a:tc>
              </a:tr>
              <a:tr h="566928">
                <a:tc>
                  <a:txBody>
                    <a:bodyPr/>
                    <a:lstStyle/>
                    <a:p>
                      <a:pPr algn="l"/>
                      <a:r>
                        <a:rPr sz="1500" b="0">
                          <a:solidFill>
                            <a:srgbClr val="1A1A1A"/>
                          </a:solidFill>
                          <a:latin typeface="Segoe UI"/>
                        </a:rPr>
                        <a:t>Recording</a:t>
                      </a:r>
                    </a:p>
                  </a:txBody>
                  <a:tcPr marL="91440" marR="73152" marT="27432" marB="27432" anchor="ctr">
                    <a:solidFill>
                      <a:srgbClr val="F2F5F8"/>
                    </a:solidFill>
                  </a:tcPr>
                </a:tc>
                <a:tc>
                  <a:txBody>
                    <a:bodyPr/>
                    <a:lstStyle/>
                    <a:p>
                      <a:pPr algn="ctr"/>
                      <a:r>
                        <a:rPr sz="1500" b="0">
                          <a:solidFill>
                            <a:srgbClr val="1A1A1A"/>
                          </a:solidFill>
                          <a:latin typeface="Segoe UI"/>
                        </a:rPr>
                        <a:t>In-lab 256-channel EEG</a:t>
                      </a:r>
                    </a:p>
                  </a:txBody>
                  <a:tcPr marL="91440" marR="73152" marT="27432" marB="27432" anchor="ctr">
                    <a:solidFill>
                      <a:srgbClr val="F2F5F8"/>
                    </a:solidFill>
                  </a:tcPr>
                </a:tc>
                <a:tc>
                  <a:txBody>
                    <a:bodyPr/>
                    <a:lstStyle/>
                    <a:p>
                      <a:pPr algn="ctr"/>
                      <a:r>
                        <a:rPr sz="1500" b="0">
                          <a:solidFill>
                            <a:srgbClr val="1A1A1A"/>
                          </a:solidFill>
                          <a:latin typeface="Segoe UI"/>
                        </a:rPr>
                        <a:t>Home EEG</a:t>
                      </a:r>
                    </a:p>
                  </a:txBody>
                  <a:tcPr marL="91440" marR="73152" marT="27432" marB="27432" anchor="ctr">
                    <a:solidFill>
                      <a:srgbClr val="F2F5F8"/>
                    </a:solidFill>
                  </a:tcPr>
                </a:tc>
              </a:tr>
              <a:tr h="566928">
                <a:tc>
                  <a:txBody>
                    <a:bodyPr/>
                    <a:lstStyle/>
                    <a:p>
                      <a:pPr algn="l"/>
                      <a:r>
                        <a:rPr sz="1500" b="0">
                          <a:solidFill>
                            <a:srgbClr val="1A1A1A"/>
                          </a:solidFill>
                          <a:latin typeface="Segoe UI"/>
                        </a:rPr>
                        <a:t>Strength measure</a:t>
                      </a:r>
                    </a:p>
                  </a:txBody>
                  <a:tcPr marL="91440" marR="73152" marT="27432" marB="27432" anchor="ctr">
                    <a:solidFill>
                      <a:srgbClr val="FFFFFF"/>
                    </a:solidFill>
                  </a:tcPr>
                </a:tc>
                <a:tc>
                  <a:txBody>
                    <a:bodyPr/>
                    <a:lstStyle/>
                    <a:p>
                      <a:pPr algn="ctr"/>
                      <a:r>
                        <a:rPr sz="1500" b="0">
                          <a:solidFill>
                            <a:srgbClr val="1A1A1A"/>
                          </a:solidFill>
                          <a:latin typeface="Segoe UI"/>
                        </a:rPr>
                        <a:t>Area under the fitted peak (AUC)</a:t>
                      </a:r>
                    </a:p>
                  </a:txBody>
                  <a:tcPr marL="91440" marR="73152" marT="27432" marB="27432" anchor="ctr">
                    <a:solidFill>
                      <a:srgbClr val="FFFFFF"/>
                    </a:solidFill>
                  </a:tcPr>
                </a:tc>
                <a:tc>
                  <a:txBody>
                    <a:bodyPr/>
                    <a:lstStyle/>
                    <a:p>
                      <a:pPr algn="ctr"/>
                      <a:r>
                        <a:rPr sz="1500" b="0">
                          <a:solidFill>
                            <a:srgbClr val="1A1A1A"/>
                          </a:solidFill>
                          <a:latin typeface="Segoe UI"/>
                        </a:rPr>
                        <a:t>Amplitude of the fitted peak</a:t>
                      </a:r>
                    </a:p>
                  </a:txBody>
                  <a:tcPr marL="91440" marR="73152" marT="27432" marB="27432" anchor="ctr">
                    <a:solidFill>
                      <a:srgbClr val="FFFFFF"/>
                    </a:solidFill>
                  </a:tcPr>
                </a:tc>
              </a:tr>
              <a:tr h="566928">
                <a:tc>
                  <a:txBody>
                    <a:bodyPr/>
                    <a:lstStyle/>
                    <a:p>
                      <a:pPr algn="l"/>
                      <a:r>
                        <a:rPr sz="1500" b="0">
                          <a:solidFill>
                            <a:srgbClr val="1A1A1A"/>
                          </a:solidFill>
                          <a:latin typeface="Segoe UI"/>
                        </a:rPr>
                        <a:t>Frequency</a:t>
                      </a:r>
                    </a:p>
                  </a:txBody>
                  <a:tcPr marL="91440" marR="73152" marT="27432" marB="27432" anchor="ctr">
                    <a:solidFill>
                      <a:srgbClr val="F2F5F8"/>
                    </a:solidFill>
                  </a:tcPr>
                </a:tc>
                <a:tc>
                  <a:txBody>
                    <a:bodyPr/>
                    <a:lstStyle/>
                    <a:p>
                      <a:pPr algn="ctr"/>
                      <a:r>
                        <a:rPr sz="1500" b="0">
                          <a:solidFill>
                            <a:srgbClr val="1A1A1A"/>
                          </a:solidFill>
                          <a:latin typeface="Segoe UI"/>
                        </a:rPr>
                        <a:t>Faster with age, no clinical difference</a:t>
                      </a:r>
                    </a:p>
                  </a:txBody>
                  <a:tcPr marL="91440" marR="73152" marT="27432" marB="27432" anchor="ctr">
                    <a:solidFill>
                      <a:srgbClr val="F2F5F8"/>
                    </a:solidFill>
                  </a:tcPr>
                </a:tc>
                <a:tc>
                  <a:txBody>
                    <a:bodyPr/>
                    <a:lstStyle/>
                    <a:p>
                      <a:pPr algn="ctr"/>
                      <a:r>
                        <a:rPr sz="1500" b="0">
                          <a:solidFill>
                            <a:srgbClr val="1A1A1A"/>
                          </a:solidFill>
                          <a:latin typeface="Segoe UI"/>
                        </a:rPr>
                        <a:t>No clinical difference</a:t>
                      </a:r>
                    </a:p>
                  </a:txBody>
                  <a:tcPr marL="91440" marR="73152" marT="27432" marB="27432" anchor="ctr">
                    <a:solidFill>
                      <a:srgbClr val="F2F5F8"/>
                    </a:solidFill>
                  </a:tcPr>
                </a:tc>
              </a:tr>
              <a:tr h="566928">
                <a:tc>
                  <a:txBody>
                    <a:bodyPr/>
                    <a:lstStyle/>
                    <a:p>
                      <a:pPr algn="l"/>
                      <a:r>
                        <a:rPr sz="1500" b="0">
                          <a:solidFill>
                            <a:srgbClr val="1A1A1A"/>
                          </a:solidFill>
                          <a:latin typeface="Segoe UI"/>
                        </a:rPr>
                        <a:t>Strength</a:t>
                      </a:r>
                    </a:p>
                  </a:txBody>
                  <a:tcPr marL="91440" marR="73152" marT="27432" marB="27432" anchor="ctr">
                    <a:solidFill>
                      <a:srgbClr val="FFFFFF"/>
                    </a:solidFill>
                  </a:tcPr>
                </a:tc>
                <a:tc>
                  <a:txBody>
                    <a:bodyPr/>
                    <a:lstStyle/>
                    <a:p>
                      <a:pPr algn="ctr"/>
                      <a:r>
                        <a:rPr sz="1500" b="0">
                          <a:solidFill>
                            <a:srgbClr val="1A1A1A"/>
                          </a:solidFill>
                          <a:latin typeface="Segoe UI"/>
                        </a:rPr>
                        <a:t>Central-parietal focus lost with age</a:t>
                      </a:r>
                    </a:p>
                  </a:txBody>
                  <a:tcPr marL="91440" marR="73152" marT="27432" marB="27432" anchor="ctr">
                    <a:solidFill>
                      <a:srgbClr val="FFFFFF"/>
                    </a:solidFill>
                  </a:tcPr>
                </a:tc>
                <a:tc>
                  <a:txBody>
                    <a:bodyPr/>
                    <a:lstStyle/>
                    <a:p>
                      <a:pPr algn="ctr"/>
                      <a:r>
                        <a:rPr sz="1500" b="0">
                          <a:solidFill>
                            <a:srgbClr val="1A1A1A"/>
                          </a:solidFill>
                          <a:latin typeface="Segoe UI"/>
                        </a:rPr>
                        <a:t>Reduced in AD, tracks plasma amyloid</a:t>
                      </a:r>
                    </a:p>
                  </a:txBody>
                  <a:tcPr marL="91440" marR="73152" marT="27432" marB="27432" anchor="ctr">
                    <a:solidFill>
                      <a:srgbClr val="FFFFFF"/>
                    </a:solidFill>
                  </a:tcPr>
                </a:tc>
              </a:tr>
              <a:tr h="566928">
                <a:tc>
                  <a:txBody>
                    <a:bodyPr/>
                    <a:lstStyle/>
                    <a:p>
                      <a:pPr algn="l"/>
                      <a:r>
                        <a:rPr sz="1500" b="0">
                          <a:solidFill>
                            <a:srgbClr val="1A1A1A"/>
                          </a:solidFill>
                          <a:latin typeface="Segoe UI"/>
                        </a:rPr>
                        <a:t>Group definition</a:t>
                      </a:r>
                    </a:p>
                  </a:txBody>
                  <a:tcPr marL="91440" marR="73152" marT="27432" marB="27432" anchor="ctr">
                    <a:solidFill>
                      <a:srgbClr val="F2F5F8"/>
                    </a:solidFill>
                  </a:tcPr>
                </a:tc>
                <a:tc>
                  <a:txBody>
                    <a:bodyPr/>
                    <a:lstStyle/>
                    <a:p>
                      <a:pPr algn="ctr"/>
                      <a:r>
                        <a:rPr sz="1500" b="0">
                          <a:solidFill>
                            <a:srgbClr val="1A1A1A"/>
                          </a:solidFill>
                          <a:latin typeface="Segoe UI"/>
                        </a:rPr>
                        <a:t>Clinical aMCI, mixed aetiology</a:t>
                      </a:r>
                    </a:p>
                  </a:txBody>
                  <a:tcPr marL="91440" marR="73152" marT="27432" marB="27432" anchor="ctr">
                    <a:solidFill>
                      <a:srgbClr val="F2F5F8"/>
                    </a:solidFill>
                  </a:tcPr>
                </a:tc>
                <a:tc>
                  <a:txBody>
                    <a:bodyPr/>
                    <a:lstStyle/>
                    <a:p>
                      <a:pPr algn="ctr"/>
                      <a:r>
                        <a:rPr sz="1500" b="0">
                          <a:solidFill>
                            <a:srgbClr val="1A1A1A"/>
                          </a:solidFill>
                          <a:latin typeface="Segoe UI"/>
                        </a:rPr>
                        <a:t>Confirmed Alzheimer's disease</a:t>
                      </a:r>
                    </a:p>
                  </a:txBody>
                  <a:tcPr marL="91440" marR="73152" marT="27432" marB="27432" anchor="ctr">
                    <a:solidFill>
                      <a:srgbClr val="F2F5F8"/>
                    </a:solidFill>
                  </a:tcPr>
                </a:tc>
              </a:tr>
            </a:tbl>
          </a:graphicData>
        </a:graphic>
      </p:graphicFrame>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B11. Where the hypnograms and annotations come from</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Sleep stages and artifact marks are read from each recording's cleaned annotation file, which is the file the analysis itself used</a:t>
            </a:r>
          </a:p>
          <a:p>
            <a:pPr algn="l" marL="274320" indent="-274320">
              <a:lnSpc>
                <a:spcPct val="102000"/>
              </a:lnSpc>
              <a:spcAft>
                <a:spcPts val="1300"/>
              </a:spcAft>
              <a:buFont typeface="Arial"/>
              <a:buChar char="▪"/>
            </a:pPr>
            <a:r>
              <a:rPr sz="2000" b="0" i="0">
                <a:solidFill>
                  <a:srgbClr val="1A1A1A"/>
                </a:solidFill>
                <a:latin typeface="Segoe UI"/>
              </a:rPr>
              <a:t>Two independent labels can coincide: an unscored epoch from the scorer, and an amplifier or acquisition gap</a:t>
            </a:r>
          </a:p>
          <a:p>
            <a:pPr algn="l" marL="274320" indent="-274320">
              <a:lnSpc>
                <a:spcPct val="102000"/>
              </a:lnSpc>
              <a:spcAft>
                <a:spcPts val="1300"/>
              </a:spcAft>
              <a:buFont typeface="Arial"/>
              <a:buChar char="▪"/>
            </a:pPr>
            <a:r>
              <a:rPr sz="2000" b="0" i="0">
                <a:solidFill>
                  <a:srgbClr val="1A1A1A"/>
                </a:solidFill>
                <a:latin typeface="Segoe UI"/>
              </a:rPr>
              <a:t>Both are excluded from the numerator and the denominator of total sleep time and wake after sleep onset, so neither inflates the other</a:t>
            </a:r>
          </a:p>
          <a:p>
            <a:pPr algn="l" marL="274320" indent="-274320">
              <a:lnSpc>
                <a:spcPct val="102000"/>
              </a:lnSpc>
              <a:spcAft>
                <a:spcPts val="1300"/>
              </a:spcAft>
              <a:buFont typeface="Arial"/>
              <a:buChar char="▪"/>
            </a:pPr>
            <a:r>
              <a:rPr sz="2000" b="0" i="0">
                <a:solidFill>
                  <a:srgbClr val="1A1A1A"/>
                </a:solidFill>
                <a:latin typeface="Segoe UI"/>
              </a:rPr>
              <a:t>Stage labels appear in two dialects across files and are normalized before any counting</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